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0" y="0"/>
            <a:ext cx="54864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 / FA Rate Pages
System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DD7EE"/>
                </a:solidFill>
                <a:latin typeface="Calibri"/>
              </a:rPr>
              <a:t>Knowledge Transfer — Files, Components &amp; FA Inheritance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  <a:latin typeface="Calibri"/>
              </a:rPr>
              <a:t>Nationwide · Commercial Lines Actuarial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86000"/>
            <a:ext cx="6766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Topics covered:
  • What this tool does
  • The files and what each one does
  • Key components inside each file
  • How nesting and company grouping work
  • How Farm Auto inherits from Business Auto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What Does This Tool Do?  —  The Big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3291840" cy="34747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STEP 1
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5740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Upload ratebook Excel files
(one per company)
+
BA Input File.xlsx
(LCM tables, state rules)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371600"/>
            <a:ext cx="3291840" cy="34747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087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STEP 2
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Tool reads all rates
into memory
↓
Applies nesting &amp; LCM
↓
Groups companies
↓
Runs 79 rate 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371600"/>
            <a:ext cx="3291840" cy="347472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15087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STEP 3
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05740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Produces a formatted
Rate Pages workbook
(.xlsx)
↓
Exports to PDF
for DOI filing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743200"/>
            <a:ext cx="685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743200"/>
            <a:ext cx="685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166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Input: Ratebook .xlsx files per company   ·   Process: Python engine in BA/BARates.py   ·   Output: Rate Pages .xlsx + PDF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Files — One Line 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24712"/>
            <a:ext cx="73152" cy="38404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config/constants.py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078992"/>
            <a:ext cx="8778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The single source of truth — all file paths, company names, fonts, margins live here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7315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app.py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54480"/>
            <a:ext cx="8778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The web app (Streamlit) — what users see: upload, run, download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75688"/>
            <a:ext cx="73152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29968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BA/BARates.py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029968"/>
            <a:ext cx="8778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The core BA engine — nesting, company grouping, 79 rules, all build &amp; format methods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51176"/>
            <a:ext cx="73152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05456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BA/ExcelSettingsBA.py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505456"/>
            <a:ext cx="8778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Excel factory — creates worksheets, writes data, applies standard formatting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26664"/>
            <a:ext cx="73152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980944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BA/BApagebreaks.py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80944"/>
            <a:ext cx="8778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Applies page breaks &amp; print settings; exports the final PDF via Excel 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502152"/>
            <a:ext cx="73152" cy="384048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56432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FA/FARates.py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456432"/>
            <a:ext cx="8778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Farm Auto engine — inherits everything from BA; only adds FA-specific overrides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977640"/>
            <a:ext cx="73152" cy="384048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93192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FA/ExcelSettingsFA.py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3931920"/>
            <a:ext cx="8778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FA Excel factory — inherits all BA formatting; add FA-only format methods here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453128"/>
            <a:ext cx="73152" cy="384048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407408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FA/FApagebreaks.py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407408"/>
            <a:ext cx="8778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FA page breaks — starts as a copy of all BA rules; add FA-only handlers here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928616"/>
            <a:ext cx="73152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882896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BA Input File.xlsx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4882896"/>
            <a:ext cx="8778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Required input: LCM mappings, state exceptions, base rate sheet names (manually maintained)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config/constants.py  — 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Rule:  Change a value HERE once — every file that uses it picks up the change automatically.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37360"/>
            <a:ext cx="557784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55648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What it stores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76272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File paths (BA_INPUT_FILE, CW_RATEBOOK_DEFAULT)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Company codes → full legal names (COMPANY_NAMES dict)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Company codes → short numbers (COMPANY_NUMBERS dict)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State abbreviations map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Excel formatting: font name, font size, margins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Number formats (#,##0.000 for rates, $#,##0 for currency)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Print title rows, header left 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737360"/>
            <a:ext cx="557784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55648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What NOT to put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76272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Business logic or rate calculation code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Rule-specific data — that stays in BARates.py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When to open this file: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→ Changing a company name or code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→ Changing a file path</a:t>
            </a:r>
          </a:p>
          <a:p>
            <a:pPr algn="l">
              <a:spcBef>
                <a:spcPts val="8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→ Changing font, margin, or number format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app.py  —  The Web Application (Streamlit)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What users interact with — runs in the browser at  http://localhost:8501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2286000" cy="5029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7335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File Uploads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673352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One ratebook file per company (NGIC, NACO, NAFF, etc.) + the BA Input 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4912" y="1709928"/>
            <a:ext cx="54864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267712"/>
            <a:ext cx="2286000" cy="5029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4086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State 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340864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Pick the state — this drives which rules produce different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24912" y="2377440"/>
            <a:ext cx="54864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935224"/>
            <a:ext cx="2286000" cy="5029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083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Schedule Rating Modifier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008376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An adjustment factor applied to the rates (default: no change)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24912" y="3044952"/>
            <a:ext cx="54864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602736"/>
            <a:ext cx="2286000" cy="5029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6758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Mode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675888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Individual state run  OR  Multi-state batch (process many states at once)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24912" y="3712464"/>
            <a:ext cx="54864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270248"/>
            <a:ext cx="2286000" cy="5029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343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Generate Button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34340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Triggers the BA engine (buildBAPages) or FA engine (buildFAPages)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912" y="4379976"/>
            <a:ext cx="54864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937760"/>
            <a:ext cx="2286000" cy="5029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10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Download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5010912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Downloads the .xlsx Rate Pages file directly from the browser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24912" y="5047488"/>
            <a:ext cx="54864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605272"/>
            <a:ext cx="2286000" cy="5029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67842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PDF Export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5678424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Generates the PDF via Excel COM — requires Microsoft Excel installed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24912" y="5715000"/>
            <a:ext cx="54864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BA/BARates.py  —  The Core Engine  (~11,600 lines)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Contains the  Auto  class. Every rate calculation, every Excel tab, every company comparison — it all lives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63624"/>
            <a:ext cx="9144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63624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__init__()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563624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Sets up the class — saves state, dates, company tables. Reads No MedPay and PIP states from BA Input File. Calls createMM().</a:t>
            </a:r>
          </a:p>
        </p:txBody>
      </p:sp>
      <p:sp>
        <p:nvSpPr>
          <p:cNvPr id="9" name="Rectangle 8"/>
          <p:cNvSpPr/>
          <p:nvPr/>
        </p:nvSpPr>
        <p:spPr>
          <a:xfrm>
            <a:off x="2816352" y="1636776"/>
            <a:ext cx="54864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130552"/>
            <a:ext cx="9144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30552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createMM()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130552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Splits the MM ratebook into 4 individual company books (AICOA, NMIC, NICOA, NPCIC) using deviation factors.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16352" y="2203704"/>
            <a:ext cx="54864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697480"/>
            <a:ext cx="9144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process_ratebook()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69748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Nesting for ONE company: copies missing sheets from NGIC (Level 2) then CW (Level 3). Then applies LCM × Company Deviation.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16352" y="2770632"/>
            <a:ext cx="54864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264408"/>
            <a:ext cx="9144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64408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nesting()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264408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Calls process_ratebook() for every available company in the right order. Suppresses NGIC when NMIC or CCMIC is present.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16352" y="3337560"/>
            <a:ext cx="54864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831336"/>
            <a:ext cx="914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831336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compareCompanies()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3831336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Compares rate tables across companies. Groups companies with IDENTICAL rates so they share one Excel tab.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904488"/>
            <a:ext cx="54864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4398264"/>
            <a:ext cx="914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398264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buildXxx()  × 60+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398264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Data builder methods — one per rule. Reads from rateTables, returns a pandas DataFrame. e.g. buildExpenseConstant(), build222B()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16352" y="4471416"/>
            <a:ext cx="54864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965192"/>
            <a:ext cx="91440" cy="45720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65192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_page_rule_XXX()  × 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965192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NEW APPROACH — one method per rule. Calls compareCompanies → loop → buildXxx → generateWorksheet → overideFooter → formatXxx.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16352" y="5038344"/>
            <a:ext cx="54864" cy="310896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5532120"/>
            <a:ext cx="91440" cy="45720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53212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ourier New"/>
              </a:rPr>
              <a:t>buildBAPages()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553212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The orchestrator — creates the Excel factory, runs nesting, then calls all 79 _page_rule methods in order.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16352" y="5605272"/>
            <a:ext cx="54864" cy="310896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Nesting Works  —  Filling in the Gaps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Not every company has rates for every coverage. Nesting fills missing tables by copying from a parent 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645920"/>
            <a:ext cx="3474720" cy="43891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Level 1  ·  The Company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03120"/>
            <a:ext cx="3474720" cy="246888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NACO, NAFF, CCMIC, HICNJ, NICOF,
NMIC, AICOA, NICOA, NPCIC, NWAG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889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Check here FIRST. If the table exists, use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47472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664208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Level 2  ·  The State Parent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103120"/>
            <a:ext cx="3474720" cy="246888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7627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NGIC  (or NWAG for agri states)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7889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If Level 1 is missing the table, copy it from NGIC.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58200" y="1645920"/>
            <a:ext cx="3474720" cy="43891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664208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Level 3  ·  The Master Fallback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03120"/>
            <a:ext cx="3474720" cy="246888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17627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CW  (Countrywide)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7889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If both Level 1 and Level 2 are missing, copy from CW.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26060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CCCCC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6060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CCCCC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7548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After nesting, every company has a complete set of tables. Then LCM × Company Deviation factors are applied to every applicable sheet.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28523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55A11"/>
                </a:solidFill>
                <a:latin typeface="Calibri"/>
              </a:rPr>
              <a:t>Important: CW and MM never appear in the output — they are support books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compareCompanies()  —  Grouping Companies onto Tabs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Before writing each rule tab, the system compares rate tables across all companies. Identical companies share one tab.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64208"/>
            <a:ext cx="5120640" cy="41148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Example — Rule 208 (Expense Constant)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12848"/>
            <a:ext cx="2011680" cy="43891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NGIC  →  $500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2860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5623"/>
                </a:solidFill>
                <a:latin typeface="Calibri"/>
              </a:rPr>
              <a:t>same 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79776"/>
            <a:ext cx="2011680" cy="43891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5292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NACO  →  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52928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5623"/>
                </a:solidFill>
                <a:latin typeface="Calibri"/>
              </a:rPr>
              <a:t>same 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46704"/>
            <a:ext cx="2011680" cy="43891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1985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NAFF  →  $500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419856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5623"/>
                </a:solidFill>
                <a:latin typeface="Calibri"/>
              </a:rPr>
              <a:t>same 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13632"/>
            <a:ext cx="2011680" cy="438912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8678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NICOF →  $450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986784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55A11"/>
                </a:solidFill>
                <a:latin typeface="Calibri"/>
              </a:rPr>
              <a:t>DIFFERENT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2011680" cy="43891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5371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CCMIC →  $500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455371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5623"/>
                </a:solidFill>
                <a:latin typeface="Calibri"/>
              </a:rPr>
              <a:t>same 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74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Result: 2 groups → 2 tabs created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18288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Output tabs produced: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2377440"/>
            <a:ext cx="6126480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242316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Tab: 'Rule 208'  →  NGIC, NACO, NAFF, CCMIC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3127248"/>
            <a:ext cx="6126480" cy="64008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172968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Tab: 'Rule 208 NICOF'  →  NICOF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3977639"/>
            <a:ext cx="6126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If all companies are identical →
  CompanyListDif has 1 entry
  → 1 tab, no company suffix
If companies differ →
  CompanyListDif has multiple entries
  → multiple tabs, each with company suffix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_page_rule_XXX Pattern  —  The New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Every rule is now an isolated method. Each method does exactly 5 things — always in the same order.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36192"/>
            <a:ext cx="384048" cy="71323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66420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536192"/>
            <a:ext cx="4206240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645920"/>
            <a:ext cx="39867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compareCompanies(table_code)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645920"/>
            <a:ext cx="6766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Compares rates across companies. Sets self.CompanyListDif — the list of company groups.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450592"/>
            <a:ext cx="384048" cy="7132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257860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450592"/>
            <a:ext cx="4206240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560320"/>
            <a:ext cx="39867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for CompanyTest in self.CompanyListDif: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560320"/>
            <a:ext cx="6766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Loops once per group. If all companies are identical, this loop runs once.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364992"/>
            <a:ext cx="384048" cy="7132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349300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364992"/>
            <a:ext cx="4206240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474720"/>
            <a:ext cx="39867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RatePages.generateWorksheet(ws_name, title, subtitle, df, ...)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3474720"/>
            <a:ext cx="6766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Calls ExcelSettingsBA to create the worksheet tab with headers, data, and borders.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79392"/>
            <a:ext cx="384048" cy="7132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440740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279392"/>
            <a:ext cx="4206240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389120"/>
            <a:ext cx="39867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self.overideFooter(ws, CompanyTest)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4389120"/>
            <a:ext cx="6766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Stamps the correct company name(s) in the printed page footer.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193792"/>
            <a:ext cx="384048" cy="71323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532180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93792"/>
            <a:ext cx="4206240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" y="5303520"/>
            <a:ext cx="39867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self.formatXxx(ws)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5303520"/>
            <a:ext cx="6766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Applies custom column widths, merged cells, bold rows — rule-specific styling.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BA/ExcelSettingsBA.py  —  The Excel Factory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BARates.py tells it WHAT to write.  ExcelSettingsBA decides HOW to write it — fonts, borders, headers, footers.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11795760" cy="576072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81912"/>
            <a:ext cx="25603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generateWorksheet()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581912"/>
            <a:ext cx="87782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MAIN method. Takes one DataFrame → creates a new worksheet tab with full title header, date, borders, and standard footer.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4368" y="1636776"/>
            <a:ext cx="54864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121408"/>
            <a:ext cx="117957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194560"/>
            <a:ext cx="25603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generateWorksheetTablesX()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194560"/>
            <a:ext cx="87782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MULTI-TABLE version. Takes a list of DataFrames with separate subtitles → stacks them on one tab.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249424"/>
            <a:ext cx="54864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734056"/>
            <a:ext cx="11795760" cy="576072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807208"/>
            <a:ext cx="25603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_apply_page_setup()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807208"/>
            <a:ext cx="87782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Sets orientation (portrait/landscape), margins, turns off gridlines, centers horizontally.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44368" y="2862072"/>
            <a:ext cx="54864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346704"/>
            <a:ext cx="117957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419856"/>
            <a:ext cx="25603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_apply_standard_header()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19856"/>
            <a:ext cx="87782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Writes the 3-part printed header: 'Commercial Lines Manual...' on left, state + dates in centre, page no. on right.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44368" y="3474720"/>
            <a:ext cx="54864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959352"/>
            <a:ext cx="11795760" cy="576072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032504"/>
            <a:ext cx="25603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_apply_default_footer()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4032504"/>
            <a:ext cx="87782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Writes company name(s) in the printed footer. Uses COMPANY_NAMES from config/constants.py.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44368" y="4087368"/>
            <a:ext cx="54864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4572000"/>
            <a:ext cx="117957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645152"/>
            <a:ext cx="25603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formatXxx()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4645152"/>
            <a:ext cx="87782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One method per rule (format208, format222B, etc.). Applies custom column widths, merged cells, bold rows after data is written.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44368" y="4700016"/>
            <a:ext cx="54864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5184648"/>
            <a:ext cx="11795760" cy="576072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257800"/>
            <a:ext cx="25603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createIndex()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5257800"/>
            <a:ext cx="87782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Creates the Index tab — a table of contents listing every worksheet tab in the workbook.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44368" y="5312664"/>
            <a:ext cx="54864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5797296"/>
            <a:ext cx="117957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870448"/>
            <a:ext cx="25603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getWB()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5870448"/>
            <a:ext cx="87782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Returns the raw openpyxl Workbook object so BARates.py can pass it to format methods.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44368" y="5925312"/>
            <a:ext cx="54864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BA/BApagebreaks.py  —  Page Breaks, Print Settings &amp; PDF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Runs AFTER the workbook is fully built. Opens the saved .xlsx and applies print settings to every tab.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600200"/>
            <a:ext cx="5623560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1848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Sets default print settings on every sheet (fit to page, print title rows)</a:t>
            </a:r>
          </a:p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Applies rule-specific overrides: orientation, print area, manual page breaks</a:t>
            </a:r>
          </a:p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Moves the Index tab to position 0 (first sheet)</a:t>
            </a:r>
          </a:p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Sanitises the .xlsx XML to prevent Excel's 'Open and Repair' popup</a:t>
            </a:r>
          </a:p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Exports the final PDF using Microsoft Excel via Windows COM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00200"/>
            <a:ext cx="5623560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1848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How SHEET_RULES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It's a list of  (sheet_name_prefix, handler_function)  pairs</a:t>
            </a:r>
          </a:p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For each worksheet, the system walks the list</a:t>
            </a:r>
          </a:p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First matching prefix → that handler runs</a:t>
            </a:r>
          </a:p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No match → default (fit single page) applies</a:t>
            </a:r>
          </a:p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Order matters: more specific prefixes must come BEFORE less specific ones</a:t>
            </a:r>
          </a:p>
          <a:p>
            <a:pPr algn="l">
              <a:spcBef>
                <a:spcPts val="80"/>
              </a:spcBef>
            </a:pPr>
            <a:r>
              <a:rPr sz="1150" b="0" i="0">
                <a:solidFill>
                  <a:srgbClr val="595959"/>
                </a:solidFill>
                <a:latin typeface="Calibri"/>
              </a:rPr>
              <a:t>• Example:  'Rule 239 C'  must come before  'Rule 239 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9612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2E75B6"/>
                </a:solidFill>
                <a:latin typeface="Calibri"/>
              </a:rPr>
              <a:t>Helper functions available in handlers:  fit_single_page(ws)   fit_width_only(ws)   disable_fit_to_page(ws)   add_break_after(ws, row)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Farm Auto — How Inheritance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Farm Auto does NOT duplicate the BA code. It inherits everything and only adds what's different.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5029200" cy="3931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BA/BARates.py  —  Auto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7627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  nesting()  /  compareCompanies()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249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  79 ×  _page_rule_XXX()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7355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  60+ ×  buildXxx()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2219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  75+ ×  formatXxx()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7083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  buildBAPages()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3108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75623"/>
                </a:solidFill>
                <a:latin typeface="Calibri"/>
              </a:rPr>
              <a:t>inherits
   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600200"/>
            <a:ext cx="5394960" cy="393192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6642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FA/FARates.py  —  Auto class  (inherits BA)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1762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DD7EE"/>
                </a:solidFill>
                <a:latin typeface="Calibri"/>
              </a:rPr>
              <a:t>  ← ALL 79 _page_rule methods  (free via inheritance)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70662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DD7EE"/>
                </a:solidFill>
                <a:latin typeface="Calibri"/>
              </a:rPr>
              <a:t>  ← ALL buildXxx methods         (free via inheritance)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23697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DD7EE"/>
                </a:solidFill>
                <a:latin typeface="Calibri"/>
              </a:rPr>
              <a:t>  ← nesting, compareCompanies    (free via inheritance)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76732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C000"/>
                </a:solidFill>
                <a:latin typeface="Calibri"/>
              </a:rPr>
              <a:t>  + FA-only build methods         (Section 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C000"/>
                </a:solidFill>
                <a:latin typeface="Calibri"/>
              </a:rPr>
              <a:t>  + FA-only _page_rule methods    (Section B)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828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C000"/>
                </a:solidFill>
                <a:latin typeface="Calibri"/>
              </a:rPr>
              <a:t>  + buildFAPages() orchestrator   (can differ from BA)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669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Same pattern for Excel factory:  ExcelSettingsFA inherits ExcelSettingsBA  ·  FApagebreaks starts as a copy of all BA SHEET_RULES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3 Situations When Working on FA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Most of the time, FA inherits BA rules with no work needed. Here are the three possible situations: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600200"/>
            <a:ext cx="3657600" cy="384048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184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SITUATION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011680"/>
            <a:ext cx="3657600" cy="34747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066543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Rule is identical in FA and BA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51460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Do nothing.
The _page_rule_XXX method is inherited automatically.
FA just calls it in buildFAPages().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5541264"/>
            <a:ext cx="3657600" cy="34747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5559552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✓  Zero code changes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600200"/>
            <a:ext cx="36576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6184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SITUATION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011680"/>
            <a:ext cx="3657600" cy="34747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2066543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FA uses different data for the same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51460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Override the buildXxx() method in FA/FARates.py.
Same method name, FA-specific data logic.
buildFAPages() still calls the same _page_rule.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5541264"/>
            <a:ext cx="36576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5559552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~5 lines of code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1600200"/>
            <a:ext cx="3657600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16184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SITUATION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2011680"/>
            <a:ext cx="3657600" cy="34747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2066543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FA needs a brand-new rule that BA doesn't have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51460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Section A of FARates.py: write buildFAXxx() method.
Section B: write _page_rule_fa_xxx() method.
Section C: add call in buildFAPages().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5541264"/>
            <a:ext cx="3657600" cy="347472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5559552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~20-30 lines of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Summary  —  How Everything Connects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07008"/>
            <a:ext cx="11795760" cy="56692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91440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config/constants.py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29844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Provides paths, company names, fonts to all files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4368" y="1335024"/>
            <a:ext cx="54864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865376"/>
            <a:ext cx="117957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865376"/>
            <a:ext cx="91440" cy="56692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6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app.py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956816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User uploads files → triggers the engine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1993392"/>
            <a:ext cx="54864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523744"/>
            <a:ext cx="11795760" cy="56692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523744"/>
            <a:ext cx="91440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1518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BA/BARates.py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15184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Nesting → LCM → compareCompanies → 79 _page_rule calls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2651760"/>
            <a:ext cx="54864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182112"/>
            <a:ext cx="117957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182112"/>
            <a:ext cx="91440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7355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BA/ExcelSettingsBA.py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273552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generateWorksheet writes each tab → formatXxx styles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44368" y="3310128"/>
            <a:ext cx="54864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840480"/>
            <a:ext cx="11795760" cy="56692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840480"/>
            <a:ext cx="91440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93192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BA/BApagebreaks.py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93192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Applies page breaks, print settings → exports PDF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44368" y="3968496"/>
            <a:ext cx="54864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498848"/>
            <a:ext cx="117957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4498848"/>
            <a:ext cx="91440" cy="566928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59028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FA/FARates.py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459028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Inherits BA → overrides what FA needs → buildFAPages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44368" y="4626864"/>
            <a:ext cx="54864" cy="32004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5157216"/>
            <a:ext cx="11795760" cy="56692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5157216"/>
            <a:ext cx="91440" cy="566928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248656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FA/ExcelSettingsFA.py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248656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Inherits BA Excel factory → add FA format overrides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44368" y="5285232"/>
            <a:ext cx="54864" cy="32004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5815584"/>
            <a:ext cx="117957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" y="5815584"/>
            <a:ext cx="91440" cy="566928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0702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FA/FApagebreaks.py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63240" y="5907024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Inherits BA rules → add FA page break overrides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44368" y="5943600"/>
            <a:ext cx="54864" cy="32004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Any questions?  →  See DEVELOPER_GUIDE.md or BA_Detailed_Rule_Documentation.xlsx for the full code reference.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