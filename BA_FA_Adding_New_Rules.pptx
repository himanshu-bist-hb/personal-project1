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7" r:id="rId4"/>
    <p:sldId id="268" r:id="rId5"/>
    <p:sldId id="269" r:id="rId6"/>
    <p:sldId id="260" r:id="rId7"/>
    <p:sldId id="261" r:id="rId8"/>
    <p:sldId id="262" r:id="rId9"/>
    <p:sldId id="263" r:id="rId10"/>
    <p:sldId id="271" r:id="rId11"/>
    <p:sldId id="270" r:id="rId12"/>
    <p:sldId id="265" r:id="rId13"/>
    <p:sldId id="266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754880" y="0"/>
            <a:ext cx="54864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to Add a
New Rule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Step 1  —  Write the Build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Calibri"/>
              </a:rPr>
              <a:t>What: Reads from ratebook → returns a table (DataFrame).
Where: BA/BARates.py — near other buildXxx() methods.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6035040" cy="425196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682496"/>
            <a:ext cx="5815584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@log_exceptions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def buildRule999(self, company):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# 1. Read raw data from the ratebook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raw = self.rateTables[company]['AgribusinessFactor_Ext']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# 2. Convert to a DataFrame (row[0] = headers, row[1:] = data)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df = pd.DataFrame(raw[1:], index=None, columns=raw[0])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# 3. Keep only the columns you need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df = df.filter(items=['Vehicle Type', 'Factor'])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# 4. Return the finished table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    return df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572768"/>
            <a:ext cx="5394960" cy="425196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6642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@log_exceptions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95681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Always add this decorator — it logs success/failure with the company name automatically.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414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self.rateTables[company]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340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The company's complete rate data after nesting. 'company' is a code like 'NGIC' or 'NACO'.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186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['AgribusinessFactor_Ext']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51129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The exact sheet name from the ratebook. Find this by opening the ratebook Excel file.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959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raw[0] / raw[1:]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8853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raw[0] = header row (column names).  raw[1:] = data rows.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7731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df.filter(items=[...])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06577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Keep only the columns you want. Remove this line to keep all columns.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961888"/>
            <a:ext cx="11658600" cy="32918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598017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The table code ('AgribusinessFactor_Ext') must exactly match a sheet name in the ratebook Excel. Verify by opening the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Step 2: Choose the Right generateWorksheet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Calibri"/>
              </a:rPr>
              <a:t>Pick ONE based on how many tables your rule has and whether each needs its own subtitle.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743200" cy="347472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6304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Your situation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417320"/>
            <a:ext cx="3200400" cy="347472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46120" y="146304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Use this function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417320"/>
            <a:ext cx="5212080" cy="347472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Auto format called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64792"/>
            <a:ext cx="27432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904" y="18196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1 table  (most rules)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764792"/>
            <a:ext cx="32004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55264" y="1819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5010"/>
                </a:solidFill>
                <a:latin typeface="Calibri"/>
              </a:rPr>
              <a:t>generateWorksheet()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764792"/>
            <a:ext cx="521208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92824" y="181965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formatWorksheet()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176272"/>
            <a:ext cx="274320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4904" y="223113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2 tables, each with own subtitle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176272"/>
            <a:ext cx="320040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55264" y="22311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5010"/>
                </a:solidFill>
                <a:latin typeface="Calibri"/>
              </a:rPr>
              <a:t>generateWorksheet2tables()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76272"/>
            <a:ext cx="521208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92824" y="223113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formatWorksheet2tables()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587752"/>
            <a:ext cx="27432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4904" y="26426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2–14 tables stacked (shared subtitle)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587752"/>
            <a:ext cx="32004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55264" y="264261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5010"/>
                </a:solidFill>
                <a:latin typeface="Calibri"/>
              </a:rPr>
              <a:t>generate_stacked_tables()  /  generateWorksheet3tables()…14tables()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2587752"/>
            <a:ext cx="521208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92824" y="26426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formatWorksheetClass()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999232"/>
            <a:ext cx="274320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904" y="305409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Multiple tables, each with own subtitle, minimal styling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2999232"/>
            <a:ext cx="320040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255264" y="305409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5010"/>
                </a:solidFill>
                <a:latin typeface="Calibri"/>
              </a:rPr>
              <a:t>generateWorksheetTablesX()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2999232"/>
            <a:ext cx="5212080" cy="41148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92824" y="30540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formatWorksheetX()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410712"/>
            <a:ext cx="27432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4904" y="346557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Rule 222 only — fixed-cell layout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410712"/>
            <a:ext cx="32004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55264" y="346557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5010"/>
                </a:solidFill>
                <a:latin typeface="Calibri"/>
              </a:rPr>
              <a:t>generateRule222()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3410712"/>
            <a:ext cx="521208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92824" y="346557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formatRule222()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572000"/>
            <a:ext cx="11475720" cy="457200"/>
          </a:xfrm>
          <a:prstGeom prst="rect">
            <a:avLst/>
          </a:prstGeom>
          <a:solidFill>
            <a:srgbClr val="FFF2CC"/>
          </a:solidFill>
          <a:ln w="63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46177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3F00"/>
                </a:solidFill>
                <a:latin typeface="Calibri"/>
              </a:rPr>
              <a:t>KEY: You do NOT call the format function yourself — every generateWorksheet* calls the correct format automatically. Just pick the right generate function.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Step 2 (cont.): Function Signatures with Code Examples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5577840" cy="2560320"/>
          </a:xfrm>
          <a:prstGeom prst="rect">
            <a:avLst/>
          </a:prstGeom>
          <a:solidFill>
            <a:srgbClr val="DEEBF7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64"/>
                </a:solidFill>
                <a:latin typeface="Calibri"/>
              </a:rPr>
              <a:t>generateWorksheet()  — 1 table (most common)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3212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349240" cy="19933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RatePages.generateWorksheet(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ws_name,       # tab name: "Rule 999 NGIC"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title,         # Row 1:  "RULE 999. MY COVERAGE NGIC"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subtitle,      # Row 2:  "999.B. Premium Table"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             # Use " " if no subtitle needed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df,            # your DataFrame from buildXxx()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False,         # useIndex (almost always False)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True,          # useHeader (almost always True)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51560"/>
            <a:ext cx="5760720" cy="2560320"/>
          </a:xfrm>
          <a:prstGeom prst="rect">
            <a:avLst/>
          </a:prstGeom>
          <a:solidFill>
            <a:srgbClr val="E2EFDA"/>
          </a:solidFill>
          <a:ln w="6350">
            <a:solidFill>
              <a:srgbClr val="378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0972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06020"/>
                </a:solidFill>
                <a:latin typeface="Calibri"/>
              </a:rPr>
              <a:t>generateWorksheet2tables()  — 2 subtitled sections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17320"/>
            <a:ext cx="566928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472184"/>
            <a:ext cx="5486400" cy="19933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RatePages.generateWorksheet2tables(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ws_name,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title,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subtitle1,     # subtitle for table 1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df1,           # first DataFrame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subtitle2,     # subtitle for table 2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df2,           # second DataFrame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False, True,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49039"/>
            <a:ext cx="5577840" cy="2560320"/>
          </a:xfrm>
          <a:prstGeom prst="rect">
            <a:avLst/>
          </a:prstGeom>
          <a:solidFill>
            <a:srgbClr val="FFF2CC"/>
          </a:solidFill>
          <a:ln w="63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B3F00"/>
                </a:solidFill>
                <a:latin typeface="Calibri"/>
              </a:rPr>
              <a:t>generate_stacked_tables()  — 2-14 tables stacked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14800"/>
            <a:ext cx="553212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4169664"/>
            <a:ext cx="5349240" cy="19933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RatePages.generate_stacked_tables(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ws_name,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title,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subtitle,      # shared subtitle for all tables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[df1, df2, df3],  # list of DataFrames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use_index=False,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use_header=True,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aliases: generateWorksheet3tables(...df1,df2,df3...)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         up to generateWorksheet14tables(...)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749039"/>
            <a:ext cx="5760720" cy="2560320"/>
          </a:xfrm>
          <a:prstGeom prst="rect">
            <a:avLst/>
          </a:prstGeom>
          <a:solidFill>
            <a:srgbClr val="FCE4D6"/>
          </a:solidFill>
          <a:ln w="63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37947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55A11"/>
                </a:solidFill>
                <a:latin typeface="Calibri"/>
              </a:rPr>
              <a:t>generateWorksheetTablesX()  — per-table subtitles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4114800"/>
            <a:ext cx="5669280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4169664"/>
            <a:ext cx="5486400" cy="19933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RatePages.generateWorksheetTablesX(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ws_name,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title,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["Subtitle A", "Subtitle B"],  # one per df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[df1, df2],                    # list of DataFrames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False, True,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Each table gets its own subtitle label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Uses minimal border styling (formatWorksheetX)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Step 3: Format Functions — Two Separate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Calibri"/>
              </a:rPr>
              <a:t>There are two completely separate layers of formatting. Understanding both prevents confusion.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577840" cy="3108960"/>
          </a:xfrm>
          <a:prstGeom prst="rect">
            <a:avLst/>
          </a:prstGeom>
          <a:solidFill>
            <a:srgbClr val="DEEBF7"/>
          </a:solidFill>
          <a:ln w="6350">
            <a:solidFill>
              <a:srgbClr val="1F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577840" cy="347472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4447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Layer 1 — Automatic  (ExcelSettingsBA.py)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19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When does it run?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74519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Automatically, at the end of every generateWorksheet* 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03703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Do you call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203703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No — never call these directly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32887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5 functions: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532887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formatWorksheet, formatWorksheetClass, formatWorksheet2tables, formatWorksheetX, formatRule222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62071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What does it do?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862071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Standard borders, fonts, margins, column auto-fit — same look for every sheet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91255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Where to change?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191255"/>
            <a:ext cx="39776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Edit in ExcelSettingsBA.py — changes apply to ALL sheets using that generator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417320"/>
            <a:ext cx="5742432" cy="3108960"/>
          </a:xfrm>
          <a:prstGeom prst="rect">
            <a:avLst/>
          </a:prstGeom>
          <a:solidFill>
            <a:srgbClr val="E2EFDA"/>
          </a:solidFill>
          <a:ln w="6350">
            <a:solidFill>
              <a:srgbClr val="378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1417320"/>
            <a:ext cx="5742432" cy="347472"/>
          </a:xfrm>
          <a:prstGeom prst="rect">
            <a:avLst/>
          </a:prstGeom>
          <a:solidFill>
            <a:srgbClr val="378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9632" y="1444752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Layer 2 — Rule-Specific  (BA/BARates.py)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1874519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A"/>
                </a:solidFill>
                <a:latin typeface="Calibri"/>
              </a:rPr>
              <a:t>When does it run?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187451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Only when explicitly called from your _page_rule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203703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A"/>
                </a:solidFill>
                <a:latin typeface="Calibri"/>
              </a:rPr>
              <a:t>Do you call it?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2203703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Yes — self.format999(RatePages.getWB()[ws_name])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2532887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A"/>
                </a:solidFill>
                <a:latin typeface="Calibri"/>
              </a:rPr>
              <a:t>How many?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532887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75 functions total in BARates.py  (e.g. format208, formatBaseRates)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862071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A"/>
                </a:solidFill>
                <a:latin typeface="Calibri"/>
              </a:rPr>
              <a:t>What does it do?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862071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Custom column widths, merged cells, bold rows, special borders for that rule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3191255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7864A"/>
                </a:solidFill>
                <a:latin typeface="Calibri"/>
              </a:rPr>
              <a:t>Do I need one?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191255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Only if standard formatting isn't enough — optional for most new rules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663440"/>
            <a:ext cx="11548872" cy="196596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" y="468172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964"/>
                </a:solidFill>
                <a:latin typeface="Calibri"/>
              </a:rPr>
              <a:t>Template — rule-specific format function (Layer 2):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983480"/>
            <a:ext cx="5532120" cy="155448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5038344"/>
            <a:ext cx="5349240" cy="1444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def format999(self, ws):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ws.column_dimensions['A'].width = 30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for col in ['B','C','D','E','F']: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    ws.column_dimensions[col].width = 12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# bold first data row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for cell in ws[5]: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    cell.font = self.fontBold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46817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A"/>
                </a:solidFill>
                <a:latin typeface="Calibri"/>
              </a:rPr>
              <a:t>Calling it from _page_rule: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0" y="4983480"/>
            <a:ext cx="5852160" cy="155448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35040" y="5038344"/>
            <a:ext cx="5669280" cy="1444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At the end of your _page_rule_999 loop: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RatePages.generateWorksheet(ws_name, title,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subtitle, df, False, True)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self.overideFooter(RatePages.getWB()[ws_name],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    CompanyTest)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Optional - only if you need custom formatting: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self.format999(RatePages.getWB()[ws_name])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Calibri"/>
              </a:rPr>
              <a:t>Step </a:t>
            </a:r>
            <a:r>
              <a:rPr lang="en-IN" sz="2200" b="1" i="0" dirty="0">
                <a:solidFill>
                  <a:srgbClr val="FFFFFF"/>
                </a:solidFill>
                <a:latin typeface="Calibri"/>
              </a:rPr>
              <a:t>4</a:t>
            </a:r>
            <a:r>
              <a:rPr sz="2200" b="1" i="0" dirty="0">
                <a:solidFill>
                  <a:srgbClr val="FFFFFF"/>
                </a:solidFill>
                <a:latin typeface="Calibri"/>
              </a:rPr>
              <a:t>  —  Write the _</a:t>
            </a:r>
            <a:r>
              <a:rPr sz="2200" b="1" i="0" dirty="0" err="1">
                <a:solidFill>
                  <a:srgbClr val="FFFFFF"/>
                </a:solidFill>
                <a:latin typeface="Calibri"/>
              </a:rPr>
              <a:t>page_rule</a:t>
            </a:r>
            <a:r>
              <a:rPr sz="2200" b="1" i="0" dirty="0">
                <a:solidFill>
                  <a:srgbClr val="FFFFFF"/>
                </a:solidFill>
                <a:latin typeface="Calibri"/>
              </a:rPr>
              <a:t>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Calibri"/>
              </a:rPr>
              <a:t>What: Creates the Excel tab(s) for the rule.  Where: BA/BARates.py — just ABOVE buildBAPages().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36192"/>
            <a:ext cx="6858000" cy="512064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645920"/>
            <a:ext cx="6638544" cy="4901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def _page_rule_999(self, RatePages):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"""Rule 999: Agribusiness Factor."""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# A: Compare rates — who is identical?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self.compareCompanies('AgribusinessFactor_Ext')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# B: Loop over company groups (1 per unique rate set)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for CompanyTest in self.CompanyListDif: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comp_name = self.extract_company_name(CompanyTest)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self.title_company_name = CompanyTest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if len(self.CompanyListDif) == 1: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self.title_company_name = ""  # all same, no suffix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ws_name = 'Rule 999 ' + self.title_company_name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# C: Write the Excel worksheet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RatePages.generateWorksheet(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ws_name,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'RULE 999. AGRIBUSINESS FACTOR ' + self.title_company_name,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'999.A. Apply the following factor.',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self.buildRule999(comp_name),   # ← your build method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False,   # landscape? True/False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    True,    # show borders? True/False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# D: Stamp company names in footer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self.overideFooter(RatePages.getWB()[ws_name], CompanyTest)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# E: Custom formatting (optional)</a:t>
            </a:r>
          </a:p>
          <a:p>
            <a:pPr>
              <a:spcBef>
                <a:spcPts val="0"/>
              </a:spcBef>
            </a:pPr>
            <a:r>
              <a:rPr sz="880">
                <a:solidFill>
                  <a:srgbClr val="1A1A1A"/>
                </a:solidFill>
                <a:latin typeface="Courier New"/>
              </a:rPr>
              <a:t>        # self.formatRule999(RatePages.getWB()[ws_name])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536192"/>
            <a:ext cx="4663440" cy="512064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06640" y="1627632"/>
            <a:ext cx="73152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52944" y="1627632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ws_name MUST be unique.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52944" y="1938528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If two tabs have the same name, Python will crash. The company suffix (title_company_name) handles this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2560320"/>
            <a:ext cx="73152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52944" y="2560320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generateWorksheet 5th arg: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2944" y="2871216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False = portrait page.  True = landscape.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3493008"/>
            <a:ext cx="73152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493008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generateWorksheet 6th arg: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80390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True = thin borders on all cells.  False = no borders.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4425696"/>
            <a:ext cx="73152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552944" y="4425696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Don't remove overideFooter.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2944" y="4736592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Without it, the wrong company name appears in the printed footer.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358384"/>
            <a:ext cx="73152" cy="7132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52944" y="5358384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alibri"/>
              </a:rPr>
              <a:t>Format call is optional.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5669280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Only add it if you need non-default column widths or merged cells.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Calibri"/>
              </a:rPr>
              <a:t>Step </a:t>
            </a:r>
            <a:r>
              <a:rPr lang="en-IN" sz="2200" b="1" i="0" dirty="0">
                <a:solidFill>
                  <a:srgbClr val="FFFFFF"/>
                </a:solidFill>
                <a:latin typeface="Calibri"/>
              </a:rPr>
              <a:t>5</a:t>
            </a:r>
            <a:r>
              <a:rPr sz="2200" b="1" i="0" dirty="0">
                <a:solidFill>
                  <a:srgbClr val="FFFFFF"/>
                </a:solidFill>
                <a:latin typeface="Calibri"/>
              </a:rPr>
              <a:t>  —  Register the Rule in </a:t>
            </a:r>
            <a:r>
              <a:rPr sz="2200" b="1" i="0" dirty="0" err="1">
                <a:solidFill>
                  <a:srgbClr val="FFFFFF"/>
                </a:solidFill>
                <a:latin typeface="Calibri"/>
              </a:rPr>
              <a:t>buildBAPages</a:t>
            </a:r>
            <a:r>
              <a:rPr sz="2200" b="1" i="0" dirty="0">
                <a:solidFill>
                  <a:srgbClr val="FFFFFF"/>
                </a:solidFill>
                <a:latin typeface="Calibri"/>
              </a:rPr>
              <a:t>()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This is a ONE-LINE change. It tells the system to run the rule and determines its position in the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727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 BA/BARates.py  →  inside buildBAPages():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38528"/>
            <a:ext cx="5394960" cy="16459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2048256"/>
            <a:ext cx="5175504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# Add your line where you want Rule 999 to appear: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self._page_rule_208(RatePages)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self._page_rule_999(RatePages)   # ← ADD THIS LINE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self._page_rule_222_ttt_base_rates(...)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03320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5623"/>
                </a:solidFill>
                <a:latin typeface="Calibri"/>
              </a:rPr>
              <a:t>In FA/FARates.py  →  inside buildFAPages():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069080"/>
            <a:ext cx="5394960" cy="146304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4178808"/>
            <a:ext cx="5175504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# Add the exact same line if FA needs this rule: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self._page_rule_208(RatePages)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self._page_rule_999(RatePages)   # ← ADD THIS LINE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self._page_rule_222_ttt_base_rates(...)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572768"/>
            <a:ext cx="5989320" cy="50292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1645920"/>
            <a:ext cx="5806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Key things to know: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148840"/>
            <a:ext cx="32918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21671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The ORDER of lines = the ORDER of tabs in the Excel file.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926080"/>
            <a:ext cx="32918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80760" y="294436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92608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To skip a rule for FA only, just don't add the line to buildFAPages().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703320"/>
            <a:ext cx="32918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0760" y="37216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To remove a rule completely, comment out the line with  #  — do NOT delete the method.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4480560"/>
            <a:ext cx="32918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60" y="4498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805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Rules 293, 297, and 451 need 'shared' passed: self._page_rule_293(RatePages, shared) — don't change this format.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5257800"/>
            <a:ext cx="329184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60" y="527608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25780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Some rules also need 'state_sheet_exceptions' passed — follow the same pattern as neighboring rules.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Calibri"/>
              </a:rPr>
              <a:t>Step </a:t>
            </a:r>
            <a:r>
              <a:rPr lang="en-IN" sz="2200" b="1" i="0" dirty="0">
                <a:solidFill>
                  <a:srgbClr val="FFFFFF"/>
                </a:solidFill>
                <a:latin typeface="Calibri"/>
              </a:rPr>
              <a:t>6</a:t>
            </a:r>
            <a:r>
              <a:rPr sz="2200" b="1" i="0" dirty="0">
                <a:solidFill>
                  <a:srgbClr val="FFFFFF"/>
                </a:solidFill>
                <a:latin typeface="Calibri"/>
              </a:rPr>
              <a:t>  —  Page Breaks  (optional)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Skip this step unless the rule needs: manual page breaks  /  landscape  /  specific print area  /  different margins.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Part A — Write a handler function in BApagebreaks.py: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01952"/>
            <a:ext cx="5394960" cy="292608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2011680"/>
            <a:ext cx="5175504" cy="2706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def _handle_rule_999(ws, dest_filename):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# Option A: fit whole sheet on one page (default)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fit_single_page(ws)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# Option B: landscape orientation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ws.page_setup.orientation = 'landscape'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# Option C: manual break after row 37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disable_fit_to_page(ws)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add_break_after(ws, 37)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# Option D: custom print area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ws.print_area = f'A1:H{ws.max_row}'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# Option E: repeat rows 1-3 as header on each page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ws.print_title_rows = '1:3'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95604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Part B — Register it in SHEET_RULES: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321808"/>
            <a:ext cx="5394960" cy="123444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5431536"/>
            <a:ext cx="5175504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SHEET_RULES = [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...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    ('Rule 999', _handle_rule_999),  # ← add this</a:t>
            </a:r>
          </a:p>
          <a:p>
            <a:pPr>
              <a:spcBef>
                <a:spcPts val="0"/>
              </a:spcBef>
            </a:pPr>
            <a:r>
              <a:rPr sz="950">
                <a:solidFill>
                  <a:srgbClr val="1A1A1A"/>
                </a:solidFill>
                <a:latin typeface="Courier New"/>
              </a:rPr>
              <a:t>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536192"/>
            <a:ext cx="5989320" cy="50749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1609344"/>
            <a:ext cx="5806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Helper functions available: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057400"/>
            <a:ext cx="5623560" cy="32918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44768" y="20756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fit_single_page(ws)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242316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Fits the ENTIRE sheet onto one printed page (width AND height).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063240"/>
            <a:ext cx="5623560" cy="32918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44768" y="308152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fit_width_only(ws)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342900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Fits width to 1 page; height grows with content. Good for tall tables.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4069080"/>
            <a:ext cx="5623560" cy="32918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408736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disable_fit_to_page(ws)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43484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Turns off automatic fitting. Use when adding manual breaks.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5074920"/>
            <a:ext cx="5623560" cy="32918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44768" y="509320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F3864"/>
                </a:solidFill>
                <a:latin typeface="Courier New"/>
              </a:rPr>
              <a:t>add_break_after(ws, 37)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4768" y="5440680"/>
            <a:ext cx="5394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Inserts a page break after row 37 (replace 37 with your row number).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6035040"/>
            <a:ext cx="5623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55A11"/>
                </a:solidFill>
                <a:latin typeface="Calibri"/>
              </a:rPr>
              <a:t>Order in SHEET_RULES matters! More specific prefixes must come BEFORE less specific 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Adding a Rule to Farm Auto (FA)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There are three scenarios. Pick the one that matches your situation.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3657600" cy="384048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5910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SCENARIO A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84248"/>
            <a:ext cx="3657600" cy="379476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0391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New rule is the same in FA as 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87168"/>
            <a:ext cx="34747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1. Write the _page_rule_999 and buildRule999 in BA/BARates.py (Steps 1-3).
2. In FA/FARates.py, add ONE LINE to buildFAPages():
       self._page_rule_999(RatePages)
That's it. FA inherits the method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815584"/>
            <a:ext cx="3657600" cy="329184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58338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Only 1 line change in FA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572768"/>
            <a:ext cx="3657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5910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SCENARIO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84248"/>
            <a:ext cx="3657600" cy="379476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20391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FA uses different DATA for the same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87168"/>
            <a:ext cx="34747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1. Follow Steps 1-3 in BA as normal.
2. In FA/FARates.py Section A, override the build method:
       def buildRule999(self, company):
           # FA-specific data logic here
3. Add to buildFAPages() as normal.
The _page_rule method is identical — only the data changes.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815584"/>
            <a:ext cx="365760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58338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Override buildXxx() in FARates.py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1572768"/>
            <a:ext cx="3657600" cy="38404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49640" y="15910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SCENARIO 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1984248"/>
            <a:ext cx="3657600" cy="379476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49640" y="20391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FA needs an entirely new rule (not in BA)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487168"/>
            <a:ext cx="347472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In FA/FARates.py:
Section A: def buildFARule999(self, company): ...
Section B: def _page_rule_fa_999(self, RatePages): ...
Section C: add  self._page_rule_fa_999(RatePages)  in buildFAPages()
For page breaks: add to FA_SHEET_RULES in FA/FApagebreaks.py.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5815584"/>
            <a:ext cx="36576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58338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Write all 3 sections in FARates.py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78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Farm Auto (FA) — 3 Situations + Examples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04040"/>
                </a:solidFill>
                <a:latin typeface="Calibri"/>
              </a:rPr>
              <a:t>FA inherits ALL BA rules automatically. You only write code for what's different.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11521440" cy="640080"/>
          </a:xfrm>
          <a:prstGeom prst="rect">
            <a:avLst/>
          </a:prstGeom>
          <a:solidFill>
            <a:srgbClr val="E2EFDA"/>
          </a:solidFill>
          <a:ln w="6350">
            <a:solidFill>
              <a:srgbClr val="378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3990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A"/>
                </a:solidFill>
                <a:latin typeface="Calibri"/>
              </a:rPr>
              <a:t>Situation 1: Rule is IDENTICAL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399032"/>
            <a:ext cx="8869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Calibri"/>
              </a:rPr>
              <a:t>Do NOTHING. FA inherits it. Don't add any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916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  <a:latin typeface="Calibri"/>
              </a:rPr>
              <a:t>Example: Rule 208, Rule 255, Rule 266 — all identical in BA and FA → no FA code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103120"/>
            <a:ext cx="5577840" cy="2423160"/>
          </a:xfrm>
          <a:prstGeom prst="rect">
            <a:avLst/>
          </a:prstGeom>
          <a:solidFill>
            <a:srgbClr val="DEEBF7"/>
          </a:solidFill>
          <a:ln w="6350">
            <a:solidFill>
              <a:srgbClr val="1F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21305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64"/>
                </a:solidFill>
                <a:latin typeface="Calibri"/>
              </a:rPr>
              <a:t>Situation 2: FA needs DIFFERENT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44144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Override only the build method in FA/FARates.py, Section A: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24912"/>
            <a:ext cx="5532120" cy="169164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779776"/>
            <a:ext cx="5349240" cy="1581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# FA/FARates.py — Section A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def buildExpenseConstant(self, company):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    # FA uses a different table code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    raw = self.rateTables[company].get(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        "FAExpenseConstant_Ext")   # ← different key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    df = pd.DataFrame(raw[1:], columns=raw[0])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    return df.dropna(how="all")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# _page_rule_208 is inherited — it calls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# self.buildExpenseConstant() which Python</a:t>
            </a:r>
          </a:p>
          <a:p>
            <a:pPr algn="l"/>
            <a:r>
              <a:rPr sz="800">
                <a:solidFill>
                  <a:srgbClr val="000080"/>
                </a:solidFill>
                <a:latin typeface="Courier New"/>
              </a:rPr>
              <a:t># resolves to THIS FA version automatically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742432" cy="2423160"/>
          </a:xfrm>
          <a:prstGeom prst="rect">
            <a:avLst/>
          </a:prstGeom>
          <a:solidFill>
            <a:srgbClr val="FCE4D6"/>
          </a:solidFill>
          <a:ln w="635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213055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55A11"/>
                </a:solidFill>
                <a:latin typeface="Calibri"/>
              </a:rPr>
              <a:t>Situation 3: ENTIRELY NEW FA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44144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Three sub-steps — all in FA/FARates.py: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724912"/>
            <a:ext cx="5669280" cy="169164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779776"/>
            <a:ext cx="5486400" cy="1581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# Section A — build method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def buildFAFarmMachinery(self, company):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raw = self.rateTables[company].get(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    "FAFarmMachinery_Ext")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df = pd.DataFrame(raw[1:], columns=raw[0])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return df.dropna(how="all")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# Section B — page rule (inherits all BA helpers)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def _page_rule_fa_farm_machinery(self, RatePages):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self.compareCompanies("FAFarmMachinery_Ext")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for CompanyTest in self.CompanyListDif: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    ...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        RatePages.generateWorksheet(ws_name, ...)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# Section C — register in buildFAPages():</a:t>
            </a:r>
          </a:p>
          <a:p>
            <a:pPr algn="l"/>
            <a:r>
              <a:rPr sz="780">
                <a:solidFill>
                  <a:srgbClr val="000080"/>
                </a:solidFill>
                <a:latin typeface="Courier New"/>
              </a:rPr>
              <a:t># self._page_rule_fa_farm_machinery(RatePages)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681728"/>
            <a:ext cx="11521440" cy="384048"/>
          </a:xfrm>
          <a:prstGeom prst="rect">
            <a:avLst/>
          </a:prstGeom>
          <a:solidFill>
            <a:srgbClr val="FFF2CC"/>
          </a:solidFill>
          <a:ln w="63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4718304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B3F00"/>
                </a:solidFill>
                <a:latin typeface="Calibri"/>
              </a:rPr>
              <a:t>FA page breaks: same pattern as BA but add to FA_SHEET_RULES in FA/FApagebreaks.py.  FA_SHEET_RULES starts as a copy of all BA rules — FA additions go at the bottom.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Altering an Existing Rule  &amp;  Removing a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5943600" cy="5303520"/>
          </a:xfrm>
          <a:prstGeom prst="rect">
            <a:avLst/>
          </a:prstGeom>
          <a:solidFill>
            <a:srgbClr val="DEEBF7"/>
          </a:solidFill>
          <a:ln w="6350">
            <a:solidFill>
              <a:srgbClr val="1F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5943600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78992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Altering an Existing 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85216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Numbers changed (same structure)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6479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Nothing — ratebook is the source of truth. Numbers update automatically.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48840"/>
            <a:ext cx="5852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18541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Table code renamed in ratebook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0487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Edit .get("OldCode_Ext") → .get("NewCode_Ext") in buildXxx method.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85216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82549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Column added/removed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04495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Edit the buildXxx method — adjust column selection or renaming.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29000"/>
            <a:ext cx="5852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46557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Title/subtitle text 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8503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Edit the title/subtitle strings inside _page_rule_XXX.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69080"/>
            <a:ext cx="585216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0565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Column widths/formatting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Edit formatXxx in BARates.py (or create one if it doesn't exist).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709160"/>
            <a:ext cx="58521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4573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FA needs different 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6519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Override buildXxx in FA/FARates.py, Section 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349240"/>
            <a:ext cx="5852160" cy="621792"/>
          </a:xfrm>
          <a:prstGeom prst="rect">
            <a:avLst/>
          </a:prstGeom>
          <a:solidFill>
            <a:srgbClr val="F2F2F2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385816"/>
            <a:ext cx="5669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964"/>
                </a:solidFill>
                <a:latin typeface="Calibri"/>
              </a:rPr>
              <a:t>FA needs different layout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05272"/>
            <a:ext cx="5669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  <a:latin typeface="Calibri"/>
              </a:rPr>
              <a:t>Override _page_rule_XXX in FA/FARates.py with the FA version.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1051560"/>
            <a:ext cx="5303520" cy="5303520"/>
          </a:xfrm>
          <a:prstGeom prst="rect">
            <a:avLst/>
          </a:prstGeom>
          <a:solidFill>
            <a:srgbClr val="E2EFDA"/>
          </a:solidFill>
          <a:ln w="6350">
            <a:solidFill>
              <a:srgbClr val="378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37960" y="1051560"/>
            <a:ext cx="5303520" cy="365760"/>
          </a:xfrm>
          <a:prstGeom prst="rect">
            <a:avLst/>
          </a:prstGeom>
          <a:solidFill>
            <a:srgbClr val="378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107899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Removing a Rule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5087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NEVER delete the method. Just comment out the one call line in the master list.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21031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964"/>
                </a:solidFill>
                <a:latin typeface="Calibri"/>
              </a:rPr>
              <a:t>Remove from BA: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395728"/>
            <a:ext cx="5257800" cy="82296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0" y="2450592"/>
            <a:ext cx="50749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In buildBAPages() in BA/BARates.py: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self._page_rule_999(RatePages)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↑ comment out = rule skipped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3375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4A"/>
                </a:solidFill>
                <a:latin typeface="Calibri"/>
              </a:rPr>
              <a:t>Remove from FA only (keep in BA):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630168"/>
            <a:ext cx="5257800" cy="822960"/>
          </a:xfrm>
          <a:prstGeom prst="rect">
            <a:avLst/>
          </a:prstGeom>
          <a:solidFill>
            <a:srgbClr val="F0F0F0"/>
          </a:solidFill>
          <a:ln w="6350"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75120" y="3685032"/>
            <a:ext cx="50749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In buildFAPages() in FA/FARates.py: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self._page_rule_999(RatePages)</a:t>
            </a:r>
          </a:p>
          <a:p>
            <a:pPr algn="l"/>
            <a:r>
              <a:rPr sz="850">
                <a:solidFill>
                  <a:srgbClr val="000080"/>
                </a:solidFill>
                <a:latin typeface="Courier New"/>
              </a:rPr>
              <a:t># ↑ FA skips it; BA still generates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0" y="4572000"/>
            <a:ext cx="5257800" cy="777240"/>
          </a:xfrm>
          <a:prstGeom prst="rect">
            <a:avLst/>
          </a:prstGeom>
          <a:solidFill>
            <a:srgbClr val="FFF2CC"/>
          </a:solidFill>
          <a:ln w="635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75120" y="4617720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B3F00"/>
                </a:solidFill>
                <a:latin typeface="Calibri"/>
              </a:rPr>
              <a:t>Why not delete the method?
You can re-enable it later with one keystroke. Deleting means rewriting from scratch.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Common Mistakes  —  And How to Avoid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1078992"/>
            <a:ext cx="91440" cy="87782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5214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Calibri"/>
              </a:rPr>
              <a:t>Duplicate worksheet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9616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Problem: Two rules produce a tab with the same ws_name → Python crashes.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78992"/>
            <a:ext cx="73152" cy="87782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52160" y="1170432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Fix: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170432"/>
            <a:ext cx="5577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Always include  self.title_company_name  in ws_name so each company group gets a unique name.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029968"/>
            <a:ext cx="91440" cy="87782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10312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Calibri"/>
              </a:rPr>
              <a:t>Wrong table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450592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Problem: compareCompanies('MyTable_Ext') fails with KeyError if the sheet name is wrong.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029968"/>
            <a:ext cx="73152" cy="87782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0" y="21214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Fix: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121408"/>
            <a:ext cx="5577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Open the ratebook Excel file and copy the exact sheet name — including the _Ext suffix.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980944"/>
            <a:ext cx="91440" cy="87782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054096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Calibri"/>
              </a:rPr>
              <a:t>Added to BA but forgot FA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01568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Problem: The rule appears in BA output but is missing from the FA output.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2980944"/>
            <a:ext cx="73152" cy="87782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852160" y="3072384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Fix: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3072384"/>
            <a:ext cx="5577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After adding to buildBAPages(), also add to buildFAPages() in FA/FARates.py.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31920"/>
            <a:ext cx="91440" cy="87782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005072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Calibri"/>
              </a:rPr>
              <a:t>Rules 293 / 297 / 451 missing 'shared'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352544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Problem: These rules pass data to each other through a shared dictionary.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3931920"/>
            <a:ext cx="73152" cy="87782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52160" y="4023360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Fix: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023360"/>
            <a:ext cx="5577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Always call them as: self._page_rule_293(RatePages, shared) — never remove the 'shared' argument.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882896"/>
            <a:ext cx="91440" cy="87782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956048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Calibri"/>
              </a:rPr>
              <a:t>Page break prefix order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03520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Problem: Wrong handler fires — e.g., 'Rule 239' handler fires on 'Rule 239 C' tabs.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4882896"/>
            <a:ext cx="73152" cy="87782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852160" y="4974336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Fix: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974336"/>
            <a:ext cx="5577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Calibri"/>
              </a:rPr>
              <a:t>Put more specific prefixes BEFORE less specific ones in SHEET_RULES.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Final Checklist  —  Before You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Go through this before generating the output. Every item must be ticked.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356616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5910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93392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2029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F3864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066544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buildRule999() written in BA/BARates.py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798064"/>
            <a:ext cx="3566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" y="283464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F3864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871216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buildRule999() has the @log_exceptions decorator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602736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3192" y="36393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F3864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675888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Table code verified against actual ratebook sheet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572768"/>
            <a:ext cx="3566160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0" y="15910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RULE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1993392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87952" y="2029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75B6"/>
                </a:solidFill>
                <a:latin typeface="Calibri"/>
              </a:rPr>
              <a:t>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066544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_page_rule_999() written in BA/BARates.py (just above buildBAPages)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2798064"/>
            <a:ext cx="3566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87952" y="283464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75B6"/>
                </a:solidFill>
                <a:latin typeface="Calibri"/>
              </a:rP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871216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compareCompanies() uses the correct table code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602736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87952" y="36393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75B6"/>
                </a:solidFill>
                <a:latin typeface="Calibri"/>
              </a:rPr>
              <a:t>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3675888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generateWorksheet() called with unique ws_name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407408"/>
            <a:ext cx="3566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87952" y="444398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75B6"/>
                </a:solidFill>
                <a:latin typeface="Calibri"/>
              </a:rPr>
              <a:t>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4480560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overideFooter() called after generateWorksheet()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79" y="1572768"/>
            <a:ext cx="3566160" cy="329184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19" y="1591056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REGISTRATION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1993392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28431" y="2029968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75623"/>
                </a:solidFill>
                <a:latin typeface="Calibri"/>
              </a:rPr>
              <a:t>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30767" y="2066544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self._page_rule_999(RatePages) added in buildBAPages()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2798064"/>
            <a:ext cx="3566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8431" y="2834640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75623"/>
                </a:solidFill>
                <a:latin typeface="Calibri"/>
              </a:rPr>
              <a:t>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30767" y="2871216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Same line added in buildFAPages() if FA needs this rule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3602736"/>
            <a:ext cx="3566160" cy="658368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28431" y="3639312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75623"/>
                </a:solidFill>
                <a:latin typeface="Calibri"/>
              </a:rPr>
              <a:t>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7" y="3675888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Page break handler added to SHEET_RULES (if needed)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407408"/>
            <a:ext cx="35661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28431" y="4443984"/>
            <a:ext cx="3291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75623"/>
                </a:solidFill>
                <a:latin typeface="Calibri"/>
              </a:rPr>
              <a:t>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0767" y="4480560"/>
            <a:ext cx="2971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Calibri"/>
              </a:rPr>
              <a:t>No other tab in the file has the same ws_name prefix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to Remove or Temporarily Skip a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07899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Calibri"/>
              </a:rPr>
              <a:t>Never delete the method. Just comment out one line in the master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To remove from BA output  (in buildBAPages):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2075688"/>
            <a:ext cx="52669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self._page_rule_208(RatePages)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# self._page_rule_999(RatePages)  ← add # to skip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self._page_rule_222_ttt_base_rates(...)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91840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5623"/>
                </a:solidFill>
                <a:latin typeface="Calibri"/>
              </a:rPr>
              <a:t>To remove from FA only  (in buildFAPages):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657600"/>
            <a:ext cx="5486400" cy="11887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8" y="3767328"/>
            <a:ext cx="52669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self._page_rule_208(RatePages)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# self._page_rule_999(RatePages)  ← FA skips; BA still runs</a:t>
            </a:r>
          </a:p>
          <a:p>
            <a:pPr>
              <a:spcBef>
                <a:spcPts val="0"/>
              </a:spcBef>
            </a:pPr>
            <a:r>
              <a:rPr sz="1000">
                <a:solidFill>
                  <a:srgbClr val="1A1A1A"/>
                </a:solidFill>
                <a:latin typeface="Courier New"/>
              </a:rPr>
              <a:t>self._page_rule_222_ttt_base_rates(...)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600200"/>
            <a:ext cx="6126480" cy="457200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0" y="167335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Why comment out instead of delete?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94560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•  The method stays in the file — easy to re-enable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971800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•  If a rule is removed and then needed again, it's one character change (#) to 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749040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•  The code documents that the rule existed and was intentionally disabled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5669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95959"/>
                </a:solidFill>
                <a:latin typeface="Calibri"/>
              </a:rPr>
              <a:t>•  Deleting code permanently loses the business logic embedded in the method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5486400"/>
            <a:ext cx="5852160" cy="4572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80760" y="5513832"/>
            <a:ext cx="5760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Golden rule:  Add  #  to disable.  Remove  #  to re-enable.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3581</Words>
  <Application>Microsoft Office PowerPoint</Application>
  <PresentationFormat>Widescreen</PresentationFormat>
  <Paragraphs>369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Himanshu Bist</cp:lastModifiedBy>
  <cp:revision>2</cp:revision>
  <dcterms:created xsi:type="dcterms:W3CDTF">2013-01-27T09:14:16Z</dcterms:created>
  <dcterms:modified xsi:type="dcterms:W3CDTF">2026-05-12T10:06:39Z</dcterms:modified>
  <cp:category/>
</cp:coreProperties>
</file>