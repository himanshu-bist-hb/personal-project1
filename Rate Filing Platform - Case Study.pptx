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84080" y="320040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Consolas"/>
              </a:rPr>
              <a:t>CASE STUDY  ·  1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961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1">
                <a:solidFill>
                  <a:srgbClr val="A8451B"/>
                </a:solidFill>
                <a:latin typeface="Georgia"/>
              </a:rPr>
              <a:t>One Platform for Every Rate 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4C5A70"/>
                </a:solidFill>
                <a:latin typeface="Segoe UI"/>
              </a:rPr>
              <a:t>Replaced slow, manual, spreadsheet-based rate filing work with </a:t>
            </a:r>
            <a:r>
              <a:rPr sz="1350" b="1" i="0">
                <a:solidFill>
                  <a:srgbClr val="22334F"/>
                </a:solidFill>
                <a:latin typeface="Segoe UI"/>
              </a:rPr>
              <a:t>one automated platform</a:t>
            </a:r>
            <a:r>
              <a:rPr sz="1350" b="0" i="0">
                <a:solidFill>
                  <a:srgbClr val="4C5A70"/>
                </a:solidFill>
                <a:latin typeface="Segoe UI"/>
              </a:rPr>
              <a:t> that builds state insurance filings for our Property (BOP), Auto, and Farm lines — faster, more consistent, and far less prone to human error.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83112" cy="329184"/>
          </a:xfrm>
          <a:prstGeom prst="rect">
            <a:avLst/>
          </a:prstGeom>
          <a:solidFill>
            <a:srgbClr val="10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ctr"/>
            <a:r>
              <a:rPr sz="1250" b="1">
                <a:solidFill>
                  <a:srgbClr val="F2F5FA"/>
                </a:solidFill>
                <a:latin typeface="Segoe UI"/>
              </a:rPr>
              <a:t>BUSINESS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84831"/>
            <a:ext cx="2670048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212847"/>
            <a:ext cx="237744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A8451B"/>
                </a:solidFill>
                <a:latin typeface="Consolas"/>
              </a:rPr>
              <a:t>~6× Faster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651759"/>
            <a:ext cx="2377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4C5A70"/>
                </a:solidFill>
                <a:latin typeface="Segoe UI"/>
              </a:rPr>
              <a:t>Our biggest reports used to take minutes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4C5A70"/>
                </a:solidFill>
                <a:latin typeface="Segoe UI"/>
              </a:rPr>
              <a:t>to produce. They now finish in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6412" y="2084831"/>
            <a:ext cx="2670048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2716" y="2212847"/>
            <a:ext cx="237744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A8451B"/>
                </a:solidFill>
                <a:latin typeface="Consolas"/>
              </a:rPr>
              <a:t>~80% Smaller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2716" y="2651759"/>
            <a:ext cx="2377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4C5A70"/>
                </a:solidFill>
                <a:latin typeface="Segoe UI"/>
              </a:rPr>
              <a:t>Filing documents are now far easier to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4C5A70"/>
                </a:solidFill>
                <a:latin typeface="Segoe UI"/>
              </a:rPr>
              <a:t>submit, store, and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9904" y="2084831"/>
            <a:ext cx="2670048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2212847"/>
            <a:ext cx="237744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A8451B"/>
                </a:solidFill>
                <a:latin typeface="Consolas"/>
              </a:rPr>
              <a:t>3 Lines →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2651759"/>
            <a:ext cx="2377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4C5A70"/>
                </a:solidFill>
                <a:latin typeface="Segoe UI"/>
              </a:rPr>
              <a:t>Property, Auto, and Farm filings — once three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4C5A70"/>
                </a:solidFill>
                <a:latin typeface="Segoe UI"/>
              </a:rPr>
              <a:t>separate processes — now run on one platform.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83396" y="2084831"/>
            <a:ext cx="2670048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9700" y="2212847"/>
            <a:ext cx="237744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A8451B"/>
                </a:solidFill>
                <a:latin typeface="Consolas"/>
              </a:rPr>
              <a:t>10 Filings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9700" y="2651759"/>
            <a:ext cx="2377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4C5A70"/>
                </a:solidFill>
                <a:latin typeface="Segoe UI"/>
              </a:rPr>
              <a:t>From single-state filings to multi-state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4C5A70"/>
                </a:solidFill>
                <a:latin typeface="Segoe UI"/>
              </a:rPr>
              <a:t>batches to specialty markets — all automated.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39312"/>
            <a:ext cx="11183112" cy="329184"/>
          </a:xfrm>
          <a:prstGeom prst="rect">
            <a:avLst/>
          </a:prstGeom>
          <a:solidFill>
            <a:srgbClr val="10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ctr"/>
            <a:r>
              <a:rPr sz="1250" b="1">
                <a:solidFill>
                  <a:srgbClr val="F2F5FA"/>
                </a:solidFill>
                <a:latin typeface="Segoe UI"/>
              </a:rPr>
              <a:t>WHAT WE CHANGED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78224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F5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078224"/>
            <a:ext cx="84124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8341F"/>
                </a:solidFill>
                <a:latin typeface="Consolas"/>
              </a:rPr>
              <a:t>BEFORE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4059936"/>
            <a:ext cx="4663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30" b="0" i="0">
                <a:solidFill>
                  <a:srgbClr val="22334F"/>
                </a:solidFill>
                <a:latin typeface="Segoe UI"/>
              </a:rPr>
              <a:t>Each business line kept its own manual process for building rate filings — the same work, done three separate ways.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82512" y="4078224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F3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4078224"/>
            <a:ext cx="84124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8451B"/>
                </a:solidFill>
                <a:latin typeface="Consolas"/>
              </a:rPr>
              <a:t>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4059936"/>
            <a:ext cx="4663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30" b="0" i="0">
                <a:solidFill>
                  <a:srgbClr val="22334F"/>
                </a:solidFill>
                <a:latin typeface="Segoe UI"/>
              </a:rPr>
              <a:t>One shared platform now builds every filing, for every line of business, from the same underlying data and rules.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91032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F5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910328"/>
            <a:ext cx="84124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8341F"/>
                </a:solidFill>
                <a:latin typeface="Consolas"/>
              </a:rPr>
              <a:t>BEFORE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7904" y="4892040"/>
            <a:ext cx="4663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30" b="0" i="0">
                <a:solidFill>
                  <a:srgbClr val="22334F"/>
                </a:solidFill>
                <a:latin typeface="Segoe UI"/>
              </a:rPr>
              <a:t>A subtle data-ordering mistake could let a generic, state-wide rate silently override a company’s own specific rate — and it happened, independently, in more than one system before anyone caught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2512" y="4910328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F3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4910328"/>
            <a:ext cx="84124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8451B"/>
                </a:solidFill>
                <a:latin typeface="Consolas"/>
              </a:rPr>
              <a:t>AFTER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3488" y="4892040"/>
            <a:ext cx="4663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30" b="0" i="0">
                <a:solidFill>
                  <a:srgbClr val="22334F"/>
                </a:solidFill>
                <a:latin typeface="Segoe UI"/>
              </a:rPr>
              <a:t>We found the issue once, corrected it everywhere it existed, and every filing now runs through an automatic check that compares it to the last approved version before it goes out.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742432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F5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742432"/>
            <a:ext cx="84124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8341F"/>
                </a:solidFill>
                <a:latin typeface="Consolas"/>
              </a:rPr>
              <a:t>BEFORE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17904" y="5724144"/>
            <a:ext cx="4663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30" b="0" i="0">
                <a:solidFill>
                  <a:srgbClr val="22334F"/>
                </a:solidFill>
                <a:latin typeface="Segoe UI"/>
              </a:rPr>
              <a:t>Two underwriting companies were quietly missing from every small-market filing — a gap nobody had noticed because the company list was tracked in six different places that had drifted out of sync.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82512" y="5742432"/>
            <a:ext cx="841248" cy="237744"/>
          </a:xfrm>
          <a:prstGeom prst="roundRect">
            <a:avLst>
              <a:gd name="adj" fmla="val 50000"/>
            </a:avLst>
          </a:prstGeom>
          <a:solidFill>
            <a:srgbClr val="F3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5742432"/>
            <a:ext cx="84124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A8451B"/>
                </a:solidFill>
                <a:latin typeface="Consolas"/>
              </a:rPr>
              <a:t>AFTER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3488" y="5724144"/>
            <a:ext cx="4663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30" b="0" i="0">
                <a:solidFill>
                  <a:srgbClr val="22334F"/>
                </a:solidFill>
                <a:latin typeface="Segoe UI"/>
              </a:rPr>
              <a:t>Both companies are included in every filing today, and the company list now lives in exactly one place, so it can’t drift out of sync again.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Consolas"/>
              </a:rPr>
              <a:t>BOP  ·  Business Auto  ·  Farm Auto  —  Rate Filing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528816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84080" y="320040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7A90"/>
                </a:solidFill>
                <a:latin typeface="Consolas"/>
              </a:rPr>
              <a:t>CASE STUDY  ·  2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961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1">
                <a:solidFill>
                  <a:srgbClr val="A8451B"/>
                </a:solidFill>
                <a:latin typeface="Georgia"/>
              </a:rPr>
              <a:t>How It Works — In Plain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4C5A70"/>
                </a:solidFill>
                <a:latin typeface="Segoe UI"/>
              </a:rPr>
              <a:t>The same automated process handles every filing, no matter the business line, state, or underwriting company. </a:t>
            </a:r>
            <a:r>
              <a:rPr sz="1350" b="1" i="0">
                <a:solidFill>
                  <a:srgbClr val="22334F"/>
                </a:solidFill>
                <a:latin typeface="Segoe UI"/>
              </a:rPr>
              <a:t>No special cases, no separate rebuilds.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83112" cy="329184"/>
          </a:xfrm>
          <a:prstGeom prst="rect">
            <a:avLst/>
          </a:prstGeom>
          <a:solidFill>
            <a:srgbClr val="10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ctr"/>
            <a:r>
              <a:rPr sz="1250" b="1">
                <a:solidFill>
                  <a:srgbClr val="F2F5FA"/>
                </a:solidFill>
                <a:latin typeface="Segoe UI"/>
              </a:rPr>
              <a:t>THE PROCESS, EVERY TIME</a:t>
            </a:r>
          </a:p>
        </p:txBody>
      </p:sp>
      <p:sp>
        <p:nvSpPr>
          <p:cNvPr id="6" name="Oval 5"/>
          <p:cNvSpPr/>
          <p:nvPr/>
        </p:nvSpPr>
        <p:spPr>
          <a:xfrm>
            <a:off x="746607" y="2121408"/>
            <a:ext cx="457200" cy="457200"/>
          </a:xfrm>
          <a:prstGeom prst="ellipse">
            <a:avLst/>
          </a:prstGeom>
          <a:solidFill>
            <a:srgbClr val="10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3E2D3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2688336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101B2D"/>
                </a:solidFill>
                <a:latin typeface="Segoe UI"/>
              </a:rPr>
              <a:t>Gather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3035808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4C5A70"/>
                </a:solidFill>
                <a:latin typeface="Segoe UI"/>
              </a:rPr>
              <a:t>Pulls together every underwriting company's rates for a state, in the right order of priority, automatically.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78327" y="2221992"/>
            <a:ext cx="457200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35527" y="2121408"/>
            <a:ext cx="457200" cy="457200"/>
          </a:xfrm>
          <a:prstGeom prst="ellipse">
            <a:avLst/>
          </a:prstGeom>
          <a:solidFill>
            <a:srgbClr val="10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3E2D3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5527" y="2688336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101B2D"/>
                </a:solidFill>
                <a:latin typeface="Segoe UI"/>
              </a:rPr>
              <a:t>Build the filing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5527" y="3035808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4C5A70"/>
                </a:solidFill>
                <a:latin typeface="Segoe UI"/>
              </a:rPr>
              <a:t>Formats it the way it needs to look, using one shared set of rules instead of separate code per business line.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67247" y="2221992"/>
            <a:ext cx="457200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24447" y="2121408"/>
            <a:ext cx="457200" cy="457200"/>
          </a:xfrm>
          <a:prstGeom prst="ellipse">
            <a:avLst/>
          </a:prstGeom>
          <a:solidFill>
            <a:srgbClr val="10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3E2D3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2688336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101B2D"/>
                </a:solidFill>
                <a:latin typeface="Segoe UI"/>
              </a:rPr>
              <a:t>Lay out the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3035808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4C5A70"/>
                </a:solidFill>
                <a:latin typeface="Segoe UI"/>
              </a:rPr>
              <a:t>Automatically decides where each page breaks so the filing prints and reads correctly — no manual adjustment.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56167" y="2221992"/>
            <a:ext cx="457200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D8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13367" y="2121408"/>
            <a:ext cx="457200" cy="457200"/>
          </a:xfrm>
          <a:prstGeom prst="ellipse">
            <a:avLst/>
          </a:prstGeom>
          <a:solidFill>
            <a:srgbClr val="10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3E2D3"/>
                </a:solidFill>
                <a:latin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3367" y="2688336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101B2D"/>
                </a:solidFill>
                <a:latin typeface="Segoe UI"/>
              </a:rPr>
              <a:t>Check it, then send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3367" y="3035808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 i="0">
                <a:solidFill>
                  <a:srgbClr val="4C5A70"/>
                </a:solidFill>
                <a:latin typeface="Segoe UI"/>
              </a:rPr>
              <a:t>Compares the finished filing to the last approved version, flags anything that changed, then produces the final PDF.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023360"/>
            <a:ext cx="11183112" cy="310896"/>
          </a:xfrm>
          <a:prstGeom prst="rect">
            <a:avLst/>
          </a:prstGeom>
          <a:solidFill>
            <a:srgbClr val="10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0" bIns="0"/>
          <a:lstStyle/>
          <a:p>
            <a:pPr algn="ctr"/>
            <a:r>
              <a:rPr sz="1250" b="1">
                <a:solidFill>
                  <a:srgbClr val="F2F5FA"/>
                </a:solidFill>
                <a:latin typeface="Segoe UI"/>
              </a:rPr>
              <a:t>WHAT'S COVERED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443984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01B2D"/>
                </a:solidFill>
                <a:latin typeface="Segoe UI"/>
              </a:rPr>
              <a:t>Business Owners Policy   </a:t>
            </a:r>
            <a:r>
              <a:rPr sz="1000" b="0" i="0">
                <a:solidFill>
                  <a:srgbClr val="6B7A90"/>
                </a:solidFill>
                <a:latin typeface="Consolas"/>
              </a:rPr>
              <a:t>5 filing types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80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F3E2D3"/>
          </a:solidFill>
          <a:ln w="9525">
            <a:solidFill>
              <a:srgbClr val="E6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0" bIns="0"/>
          <a:lstStyle/>
          <a:p>
            <a:pPr algn="ctr"/>
            <a:r>
              <a:rPr sz="950" b="1">
                <a:solidFill>
                  <a:srgbClr val="A8451B"/>
                </a:solidFill>
                <a:latin typeface="Consolas"/>
              </a:rPr>
              <a:t>All Programs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84832" y="4754880"/>
            <a:ext cx="1138428" cy="292608"/>
          </a:xfrm>
          <a:prstGeom prst="roundRect">
            <a:avLst>
              <a:gd name="adj" fmla="val 50000"/>
            </a:avLst>
          </a:prstGeom>
          <a:solidFill>
            <a:srgbClr val="F3E2D3"/>
          </a:solidFill>
          <a:ln w="9525">
            <a:solidFill>
              <a:srgbClr val="E6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0" bIns="0"/>
          <a:lstStyle/>
          <a:p>
            <a:pPr algn="ctr"/>
            <a:r>
              <a:rPr sz="950" b="1">
                <a:solidFill>
                  <a:srgbClr val="A8451B"/>
                </a:solidFill>
                <a:latin typeface="Consolas"/>
              </a:rPr>
              <a:t>All Peril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4700" y="4754880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F3E2D3"/>
          </a:solidFill>
          <a:ln w="9525">
            <a:solidFill>
              <a:srgbClr val="E6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0" bIns="0"/>
          <a:lstStyle/>
          <a:p>
            <a:pPr algn="ctr"/>
            <a:r>
              <a:rPr sz="950" b="1">
                <a:solidFill>
                  <a:srgbClr val="A8451B"/>
                </a:solidFill>
                <a:latin typeface="Consolas"/>
              </a:rPr>
              <a:t>Habitational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32604" y="4754880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F3E2D3"/>
          </a:solidFill>
          <a:ln w="9525">
            <a:solidFill>
              <a:srgbClr val="E6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0" bIns="0"/>
          <a:lstStyle/>
          <a:p>
            <a:pPr algn="ctr"/>
            <a:r>
              <a:rPr sz="950" b="1">
                <a:solidFill>
                  <a:srgbClr val="A8451B"/>
                </a:solidFill>
                <a:latin typeface="Consolas"/>
              </a:rPr>
              <a:t>Auto Service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0508" y="4754880"/>
            <a:ext cx="850392" cy="292608"/>
          </a:xfrm>
          <a:prstGeom prst="roundRect">
            <a:avLst>
              <a:gd name="adj" fmla="val 50000"/>
            </a:avLst>
          </a:prstGeom>
          <a:solidFill>
            <a:srgbClr val="F3E2D3"/>
          </a:solidFill>
          <a:ln w="9525">
            <a:solidFill>
              <a:srgbClr val="E6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0" bIns="0"/>
          <a:lstStyle/>
          <a:p>
            <a:pPr algn="ctr"/>
            <a:r>
              <a:rPr sz="950" b="1">
                <a:solidFill>
                  <a:srgbClr val="A8451B"/>
                </a:solidFill>
                <a:latin typeface="Consolas"/>
              </a:rPr>
              <a:t>Retail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12064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01B2D"/>
                </a:solidFill>
                <a:latin typeface="Segoe UI"/>
              </a:rPr>
              <a:t>Business Auto   </a:t>
            </a:r>
            <a:r>
              <a:rPr sz="1000" b="0" i="0">
                <a:solidFill>
                  <a:srgbClr val="6B7A90"/>
                </a:solidFill>
                <a:latin typeface="Consolas"/>
              </a:rPr>
              <a:t>3 filing modes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431536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F3E2D3"/>
          </a:solidFill>
          <a:ln w="9525">
            <a:solidFill>
              <a:srgbClr val="E6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0" bIns="0"/>
          <a:lstStyle/>
          <a:p>
            <a:pPr algn="ctr"/>
            <a:r>
              <a:rPr sz="950" b="1">
                <a:solidFill>
                  <a:srgbClr val="A8451B"/>
                </a:solidFill>
                <a:latin typeface="Consolas"/>
              </a:rPr>
              <a:t>Single State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84832" y="5431536"/>
            <a:ext cx="1714500" cy="292608"/>
          </a:xfrm>
          <a:prstGeom prst="roundRect">
            <a:avLst>
              <a:gd name="adj" fmla="val 50000"/>
            </a:avLst>
          </a:prstGeom>
          <a:solidFill>
            <a:srgbClr val="F3E2D3"/>
          </a:solidFill>
          <a:ln w="9525">
            <a:solidFill>
              <a:srgbClr val="E6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0" bIns="0"/>
          <a:lstStyle/>
          <a:p>
            <a:pPr algn="ctr"/>
            <a:r>
              <a:rPr sz="950" b="1">
                <a:solidFill>
                  <a:srgbClr val="A8451B"/>
                </a:solidFill>
                <a:latin typeface="Consolas"/>
              </a:rPr>
              <a:t>Multiple States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90772" y="5431536"/>
            <a:ext cx="2290572" cy="292608"/>
          </a:xfrm>
          <a:prstGeom prst="roundRect">
            <a:avLst>
              <a:gd name="adj" fmla="val 50000"/>
            </a:avLst>
          </a:prstGeom>
          <a:solidFill>
            <a:srgbClr val="F3E2D3"/>
          </a:solidFill>
          <a:ln w="9525">
            <a:solidFill>
              <a:srgbClr val="E6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0" bIns="0"/>
          <a:lstStyle/>
          <a:p>
            <a:pPr algn="ctr"/>
            <a:r>
              <a:rPr sz="950" b="1">
                <a:solidFill>
                  <a:srgbClr val="A8451B"/>
                </a:solidFill>
                <a:latin typeface="Consolas"/>
              </a:rPr>
              <a:t>Small &amp; Middle Market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79729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01B2D"/>
                </a:solidFill>
                <a:latin typeface="Segoe UI"/>
              </a:rPr>
              <a:t>Farm Auto   </a:t>
            </a:r>
            <a:r>
              <a:rPr sz="1000" b="0" i="0">
                <a:solidFill>
                  <a:srgbClr val="6B7A90"/>
                </a:solidFill>
                <a:latin typeface="Consolas"/>
              </a:rPr>
              <a:t>2 filing modes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6108192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F3E2D3"/>
          </a:solidFill>
          <a:ln w="9525">
            <a:solidFill>
              <a:srgbClr val="E6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0" bIns="0"/>
          <a:lstStyle/>
          <a:p>
            <a:pPr algn="ctr"/>
            <a:r>
              <a:rPr sz="950" b="1">
                <a:solidFill>
                  <a:srgbClr val="A8451B"/>
                </a:solidFill>
                <a:latin typeface="Consolas"/>
              </a:rPr>
              <a:t>Single State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84832" y="6108192"/>
            <a:ext cx="1714500" cy="292608"/>
          </a:xfrm>
          <a:prstGeom prst="roundRect">
            <a:avLst>
              <a:gd name="adj" fmla="val 50000"/>
            </a:avLst>
          </a:prstGeom>
          <a:solidFill>
            <a:srgbClr val="F3E2D3"/>
          </a:solidFill>
          <a:ln w="9525">
            <a:solidFill>
              <a:srgbClr val="E6C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0" bIns="0"/>
          <a:lstStyle/>
          <a:p>
            <a:pPr algn="ctr"/>
            <a:r>
              <a:rPr sz="950" b="1">
                <a:solidFill>
                  <a:srgbClr val="A8451B"/>
                </a:solidFill>
                <a:latin typeface="Consolas"/>
              </a:rPr>
              <a:t>Multiple States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Consolas"/>
              </a:rPr>
              <a:t>BOP  ·  Business Auto  ·  Farm Auto  —  Rate Filing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528816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