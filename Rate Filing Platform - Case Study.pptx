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84080" y="32004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Consolas"/>
              </a:rPr>
              <a:t>CASE STUDY  ·  1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1">
                <a:solidFill>
                  <a:srgbClr val="A8451B"/>
                </a:solidFill>
                <a:latin typeface="Georgia"/>
              </a:rPr>
              <a:t>One Platform for Every Rate 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C5A70"/>
                </a:solidFill>
                <a:latin typeface="Segoe UI"/>
              </a:rPr>
              <a:t>Replaced slow, manual, spreadsheet-based rate filing work with </a:t>
            </a:r>
            <a:r>
              <a:rPr sz="1300" b="1" i="0">
                <a:solidFill>
                  <a:srgbClr val="22334F"/>
                </a:solidFill>
                <a:latin typeface="Segoe UI"/>
              </a:rPr>
              <a:t>one automated platform</a:t>
            </a:r>
            <a:r>
              <a:rPr sz="1300" b="0" i="0">
                <a:solidFill>
                  <a:srgbClr val="4C5A70"/>
                </a:solidFill>
                <a:latin typeface="Segoe UI"/>
              </a:rPr>
              <a:t> that builds state insurance filings for our Property (BOP), Auto, and Farm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81328"/>
            <a:ext cx="5518404" cy="292608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167628" y="1481328"/>
            <a:ext cx="5518404" cy="292608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551840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Three ways, one job. </a:t>
            </a:r>
            <a:r>
              <a:rPr sz="1010" b="0">
                <a:solidFill>
                  <a:srgbClr val="4C5A70"/>
                </a:solidFill>
                <a:latin typeface="Segoe UI"/>
              </a:rPr>
              <a:t>Property (BOP), Auto, and Farm each built and updated their own rate filings by hand, in separate spreadsheets, with separate rules to maintain.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A hidden mistake, repeated. </a:t>
            </a:r>
            <a:r>
              <a:rPr sz="1010" b="0">
                <a:solidFill>
                  <a:srgbClr val="4C5A70"/>
                </a:solidFill>
                <a:latin typeface="Segoe UI"/>
              </a:rPr>
              <a:t>The same data-ordering error — letting a generic, state-wide rate silently override a company’s own rate — crept into more than one system independently.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Slow, oversized output. </a:t>
            </a:r>
            <a:r>
              <a:rPr sz="1010" b="0">
                <a:solidFill>
                  <a:srgbClr val="4C5A70"/>
                </a:solidFill>
                <a:latin typeface="Segoe UI"/>
              </a:rPr>
              <a:t>The biggest reports took several minutes to produce, and finished filings could be too large to easily share.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Every new filing type, a rebuild. </a:t>
            </a:r>
            <a:r>
              <a:rPr sz="1010" b="0">
                <a:solidFill>
                  <a:srgbClr val="4C5A70"/>
                </a:solidFill>
                <a:latin typeface="Segoe UI"/>
              </a:rPr>
              <a:t>Adding a filing type or business line meant rewriting the process, not just updating a setting.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7628" y="1847088"/>
            <a:ext cx="551840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One system, every line. </a:t>
            </a:r>
            <a:r>
              <a:rPr sz="1010" b="0">
                <a:solidFill>
                  <a:srgbClr val="4C5A70"/>
                </a:solidFill>
                <a:latin typeface="Segoe UI"/>
              </a:rPr>
              <a:t>Replace manual, error-prone spreadsheet work with a single automated platform that works the same way for Property, Auto, and Farm.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Catch mistakes early. </a:t>
            </a:r>
            <a:r>
              <a:rPr sz="1010" b="0">
                <a:solidFill>
                  <a:srgbClr val="4C5A70"/>
                </a:solidFill>
                <a:latin typeface="Segoe UI"/>
              </a:rPr>
              <a:t>Check every filing automatically, before it ever reaches a regulator.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Cut time and size. </a:t>
            </a:r>
            <a:r>
              <a:rPr sz="1010" b="0">
                <a:solidFill>
                  <a:srgbClr val="4C5A70"/>
                </a:solidFill>
                <a:latin typeface="Segoe UI"/>
              </a:rPr>
              <a:t>Reduce how long the biggest filings take to produce, and how large the finished files are — with no loss of information.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10" b="1">
                <a:solidFill>
                  <a:srgbClr val="A8451B"/>
                </a:solidFill>
                <a:latin typeface="Segoe UI"/>
              </a:rPr>
              <a:t>•  </a:t>
            </a:r>
            <a:r>
              <a:rPr sz="1010" b="1">
                <a:solidFill>
                  <a:srgbClr val="101B2D"/>
                </a:solidFill>
                <a:latin typeface="Segoe UI"/>
              </a:rPr>
              <a:t>Make growth easy. </a:t>
            </a:r>
            <a:r>
              <a:rPr sz="1010" b="0">
                <a:solidFill>
                  <a:srgbClr val="4C5A70"/>
                </a:solidFill>
                <a:latin typeface="Segoe UI"/>
              </a:rPr>
              <a:t>Let the next filing type or business line be added as a configuration change, not a rebuild.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02736"/>
            <a:ext cx="11183112" cy="292608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SOLUTION DESIGN  —  THE PROCESS, EVERY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31920"/>
            <a:ext cx="11183112" cy="24505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8DF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4206240"/>
            <a:ext cx="420624" cy="420624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3E2D3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4754880"/>
            <a:ext cx="23317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01B2D"/>
                </a:solidFill>
                <a:latin typeface="Segoe UI"/>
              </a:rPr>
              <a:t>Gather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065776"/>
            <a:ext cx="2331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80" b="0" i="0">
                <a:solidFill>
                  <a:srgbClr val="4C5A70"/>
                </a:solidFill>
                <a:latin typeface="Segoe UI"/>
              </a:rPr>
              <a:t>Pulls together every underwriting company's rates for a state, in the right order of priority, automatically.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31820" y="4297680"/>
            <a:ext cx="420624" cy="237744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4206240"/>
            <a:ext cx="420624" cy="420624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3E2D3"/>
                </a:solidFill>
                <a:latin typeface="Consola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2444" y="4754880"/>
            <a:ext cx="23317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01B2D"/>
                </a:solidFill>
                <a:latin typeface="Segoe UI"/>
              </a:rPr>
              <a:t>Build the filing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2444" y="5065776"/>
            <a:ext cx="2331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80" b="0" i="0">
                <a:solidFill>
                  <a:srgbClr val="4C5A70"/>
                </a:solidFill>
                <a:latin typeface="Segoe UI"/>
              </a:rPr>
              <a:t>Formats it the way it needs to look, using one shared set of rules instead of separate code per business line.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84164" y="4297680"/>
            <a:ext cx="420624" cy="237744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4788" y="4206240"/>
            <a:ext cx="420624" cy="420624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3E2D3"/>
                </a:solidFill>
                <a:latin typeface="Consola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4788" y="4754880"/>
            <a:ext cx="23317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01B2D"/>
                </a:solidFill>
                <a:latin typeface="Segoe UI"/>
              </a:rPr>
              <a:t>Lay out the pages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4788" y="5065776"/>
            <a:ext cx="2331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80" b="0" i="0">
                <a:solidFill>
                  <a:srgbClr val="4C5A70"/>
                </a:solidFill>
                <a:latin typeface="Segoe UI"/>
              </a:rPr>
              <a:t>Automatically decides where each page breaks so the filing prints and reads correctly — no manual adjustment.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636508" y="4297680"/>
            <a:ext cx="420624" cy="237744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57132" y="4206240"/>
            <a:ext cx="420624" cy="420624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3E2D3"/>
                </a:solidFill>
                <a:latin typeface="Consola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7132" y="4754880"/>
            <a:ext cx="23317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01B2D"/>
                </a:solidFill>
                <a:latin typeface="Segoe UI"/>
              </a:rPr>
              <a:t>Check it, send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7132" y="5065776"/>
            <a:ext cx="2331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980" b="0" i="0">
                <a:solidFill>
                  <a:srgbClr val="4C5A70"/>
                </a:solidFill>
                <a:latin typeface="Segoe UI"/>
              </a:rPr>
              <a:t>Compares the finished filing to the last approved version, flags anything that changed, then produces the final PDF.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BOP  ·  Business Auto  ·  Farm Auto  —  Rate Filing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52881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84080" y="32004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Consolas"/>
              </a:rPr>
              <a:t>CASE STUDY  ·  2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1">
                <a:solidFill>
                  <a:srgbClr val="A8451B"/>
                </a:solidFill>
                <a:latin typeface="Georgia"/>
              </a:rPr>
              <a:t>Key Benefits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C5A70"/>
                </a:solidFill>
                <a:latin typeface="Segoe UI"/>
              </a:rPr>
              <a:t>What changed for the business, and what it’s worth in practice — </a:t>
            </a:r>
            <a:r>
              <a:rPr sz="1300" b="1" i="0">
                <a:solidFill>
                  <a:srgbClr val="22334F"/>
                </a:solidFill>
                <a:latin typeface="Segoe UI"/>
              </a:rPr>
              <a:t>across Property, Auto, and Farm alike.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17904"/>
            <a:ext cx="11183112" cy="292608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KEY BENEFITS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65376"/>
            <a:ext cx="2134209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" y="2011680"/>
            <a:ext cx="91440" cy="91440"/>
          </a:xfrm>
          <a:prstGeom prst="ellipse">
            <a:avLst/>
          </a:prstGeom>
          <a:solidFill>
            <a:srgbClr val="A84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75104"/>
            <a:ext cx="17318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Faster Turnaround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322576"/>
            <a:ext cx="187817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>
                <a:solidFill>
                  <a:srgbClr val="4C5A70"/>
                </a:solidFill>
                <a:latin typeface="Segoe UI"/>
              </a:rPr>
              <a:t>Reports that took minutes now finish in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5145" y="1865376"/>
            <a:ext cx="2134209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93161" y="2011680"/>
            <a:ext cx="91440" cy="91440"/>
          </a:xfrm>
          <a:prstGeom prst="ellipse">
            <a:avLst/>
          </a:prstGeom>
          <a:solidFill>
            <a:srgbClr val="A84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57753" y="1975104"/>
            <a:ext cx="17318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Fewer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3161" y="2322576"/>
            <a:ext cx="187817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>
                <a:solidFill>
                  <a:srgbClr val="4C5A70"/>
                </a:solidFill>
                <a:latin typeface="Segoe UI"/>
              </a:rPr>
              <a:t>Every filing is checked against the last approved version.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7370" y="1865376"/>
            <a:ext cx="2134209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55386" y="2011680"/>
            <a:ext cx="91440" cy="91440"/>
          </a:xfrm>
          <a:prstGeom prst="ellipse">
            <a:avLst/>
          </a:prstGeom>
          <a:solidFill>
            <a:srgbClr val="A84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9978" y="1975104"/>
            <a:ext cx="17318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One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5386" y="2322576"/>
            <a:ext cx="187817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>
                <a:solidFill>
                  <a:srgbClr val="4C5A70"/>
                </a:solidFill>
                <a:latin typeface="Segoe UI"/>
              </a:rPr>
              <a:t>Property, Auto, and Farm now share the same platform.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9595" y="1865376"/>
            <a:ext cx="2134209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17611" y="2011680"/>
            <a:ext cx="91440" cy="91440"/>
          </a:xfrm>
          <a:prstGeom prst="ellipse">
            <a:avLst/>
          </a:prstGeom>
          <a:solidFill>
            <a:srgbClr val="A84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2203" y="1975104"/>
            <a:ext cx="17318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Easier to Share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7611" y="2322576"/>
            <a:ext cx="187817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>
                <a:solidFill>
                  <a:srgbClr val="4C5A70"/>
                </a:solidFill>
                <a:latin typeface="Segoe UI"/>
              </a:rPr>
              <a:t>Filing files are far smaller, with nothing left out.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1820" y="1865376"/>
            <a:ext cx="2134209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79836" y="2011680"/>
            <a:ext cx="91440" cy="91440"/>
          </a:xfrm>
          <a:prstGeom prst="ellipse">
            <a:avLst/>
          </a:prstGeom>
          <a:solidFill>
            <a:srgbClr val="A84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44428" y="1975104"/>
            <a:ext cx="17318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Built to Grow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9836" y="2322576"/>
            <a:ext cx="187817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>
                <a:solidFill>
                  <a:srgbClr val="4C5A70"/>
                </a:solidFill>
                <a:latin typeface="Segoe UI"/>
              </a:rPr>
              <a:t>Adding the next filing type is a setting, not a rebuild.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93008"/>
            <a:ext cx="11183112" cy="292608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IMPACT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840480"/>
            <a:ext cx="2670048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" y="3959352"/>
            <a:ext cx="237744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451B"/>
                </a:solidFill>
                <a:latin typeface="Consolas"/>
              </a:rPr>
              <a:t>~6× Faster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" y="4370832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Our biggest reports used to take minutes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to produce. They now finish in seconds.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6412" y="3840480"/>
            <a:ext cx="2670048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42716" y="3959352"/>
            <a:ext cx="237744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451B"/>
                </a:solidFill>
                <a:latin typeface="Consolas"/>
              </a:rPr>
              <a:t>~80% Smaller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2716" y="4370832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Filing documents are now far easier to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submit, store, and review.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89904" y="3840480"/>
            <a:ext cx="2670048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3959352"/>
            <a:ext cx="237744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451B"/>
                </a:solidFill>
                <a:latin typeface="Consolas"/>
              </a:rPr>
              <a:t>3 Lines →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4370832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Property, Auto, and Farm filings — once three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separate processes — now run on one platform.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83396" y="3840480"/>
            <a:ext cx="2670048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29700" y="3959352"/>
            <a:ext cx="237744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451B"/>
                </a:solidFill>
                <a:latin typeface="Consolas"/>
              </a:rPr>
              <a:t>10 Filings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29700" y="4370832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From single-state filings to multi-state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 i="0">
                <a:solidFill>
                  <a:srgbClr val="4C5A70"/>
                </a:solidFill>
                <a:latin typeface="Segoe UI"/>
              </a:rPr>
              <a:t>batches to specialty markets — all automated.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285232"/>
            <a:ext cx="11183112" cy="493776"/>
          </a:xfrm>
          <a:prstGeom prst="roundRect">
            <a:avLst>
              <a:gd name="adj" fmla="val 16000"/>
            </a:avLst>
          </a:prstGeom>
          <a:solidFill>
            <a:srgbClr val="F3E2D3"/>
          </a:solidFill>
          <a:ln w="12700">
            <a:solidFill>
              <a:srgbClr val="E6C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285232"/>
            <a:ext cx="10652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A8451B"/>
                </a:solidFill>
                <a:latin typeface="Segoe UI"/>
              </a:rPr>
              <a:t>Bottom line:  </a:t>
            </a:r>
            <a:r>
              <a:rPr sz="1200" b="0" i="0">
                <a:solidFill>
                  <a:srgbClr val="22334F"/>
                </a:solidFill>
                <a:latin typeface="Segoe UI"/>
              </a:rPr>
              <a:t>one platform, three lines of business, faster and more accurate filings — with room to add the next program without starting over.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BOP  ·  Business Auto  ·  Farm Auto  —  Rate Filing Platform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52881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84080" y="32004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B7A90"/>
                </a:solidFill>
                <a:latin typeface="Consolas"/>
              </a:rPr>
              <a:t>SOLUTION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1">
                <a:solidFill>
                  <a:srgbClr val="A8451B"/>
                </a:solidFill>
                <a:latin typeface="Georgia"/>
              </a:rPr>
              <a:t>Solution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C5A70"/>
                </a:solidFill>
                <a:latin typeface="Segoe UI"/>
              </a:rPr>
              <a:t>How ratebook data becomes a regulator-ready filing — automatically, for any line of business, state, or underwriting company.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36192"/>
            <a:ext cx="2148840" cy="274320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DATA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2148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066544"/>
            <a:ext cx="18928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Branch Ratebooks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432304"/>
            <a:ext cx="18928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NACO · NAFF · NICOF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71800"/>
            <a:ext cx="2148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118104"/>
            <a:ext cx="18928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State Ratebook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83864"/>
            <a:ext cx="18928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NGIC — state default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23360"/>
            <a:ext cx="2148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4169664"/>
            <a:ext cx="18928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01B2D"/>
                </a:solidFill>
                <a:latin typeface="Segoe UI"/>
              </a:rPr>
              <a:t>Countrywide Ratebook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4535424"/>
            <a:ext cx="18928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CW — final fallback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06624" y="3300984"/>
            <a:ext cx="256032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17520" y="1536192"/>
            <a:ext cx="6263640" cy="274320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UNIFIED RATE FILING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920240"/>
            <a:ext cx="6263640" cy="3017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8DF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82112" y="2121408"/>
            <a:ext cx="365760" cy="365760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2D3"/>
                </a:solidFill>
                <a:latin typeface="Consola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6392" y="2596896"/>
            <a:ext cx="141046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01B2D"/>
                </a:solidFill>
                <a:latin typeface="Segoe UI"/>
              </a:rPr>
              <a:t>Gather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871216"/>
            <a:ext cx="141046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4C5A70"/>
                </a:solidFill>
                <a:latin typeface="Segoe UI"/>
              </a:rPr>
              <a:t>Pulls every company's rates for a state, in priority order, automatically.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501134" y="2212848"/>
            <a:ext cx="219456" cy="18288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20590" y="2121408"/>
            <a:ext cx="365760" cy="365760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2D3"/>
                </a:solidFill>
                <a:latin typeface="Consola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4870" y="2596896"/>
            <a:ext cx="141046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01B2D"/>
                </a:solidFill>
                <a:latin typeface="Segoe UI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4870" y="2871216"/>
            <a:ext cx="141046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4C5A70"/>
                </a:solidFill>
                <a:latin typeface="Segoe UI"/>
              </a:rPr>
              <a:t>Formats the filing using one shared set of rules — not separate code per line.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039612" y="2212848"/>
            <a:ext cx="219456" cy="18288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59068" y="2121408"/>
            <a:ext cx="365760" cy="365760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2D3"/>
                </a:solidFill>
                <a:latin typeface="Consola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3348" y="2596896"/>
            <a:ext cx="141046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01B2D"/>
                </a:solidFill>
                <a:latin typeface="Segoe UI"/>
              </a:rPr>
              <a:t>Lay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3348" y="2871216"/>
            <a:ext cx="141046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4C5A70"/>
                </a:solidFill>
                <a:latin typeface="Segoe UI"/>
              </a:rPr>
              <a:t>Decides page breaks automatically so every filing prints and reads correctly.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578090" y="2212848"/>
            <a:ext cx="219456" cy="18288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97546" y="2121408"/>
            <a:ext cx="365760" cy="365760"/>
          </a:xfrm>
          <a:prstGeom prst="ellipse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2D3"/>
                </a:solidFill>
                <a:latin typeface="Consola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1826" y="2596896"/>
            <a:ext cx="1410462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01B2D"/>
                </a:solidFill>
                <a:latin typeface="Segoe UI"/>
              </a:rPr>
              <a:t>Check &amp; Send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51826" y="2871216"/>
            <a:ext cx="141046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80" b="0" i="0">
                <a:solidFill>
                  <a:srgbClr val="4C5A70"/>
                </a:solidFill>
                <a:latin typeface="Segoe UI"/>
              </a:rPr>
              <a:t>Compares to the last approved version, flags changes, produces the final PDF.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336024" y="3300984"/>
            <a:ext cx="256032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D8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46920" y="1536192"/>
            <a:ext cx="2039112" cy="274320"/>
          </a:xfrm>
          <a:prstGeom prst="rect">
            <a:avLst/>
          </a:prstGeom>
          <a:solidFill>
            <a:srgbClr val="10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tIns="0" bIns="0"/>
          <a:lstStyle/>
          <a:p>
            <a:pPr algn="ctr"/>
            <a:r>
              <a:rPr sz="1250" b="1">
                <a:solidFill>
                  <a:srgbClr val="F2F5FA"/>
                </a:solidFill>
                <a:latin typeface="Segoe UI"/>
              </a:rPr>
              <a:t>FILING OUTPUT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920240"/>
            <a:ext cx="2039112" cy="1417320"/>
          </a:xfrm>
          <a:prstGeom prst="roundRect">
            <a:avLst>
              <a:gd name="adj" fmla="val 10000"/>
            </a:avLst>
          </a:prstGeom>
          <a:solidFill>
            <a:srgbClr val="F3E2D3"/>
          </a:solidFill>
          <a:ln w="13970">
            <a:solidFill>
              <a:srgbClr val="E6C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0" y="2084832"/>
            <a:ext cx="1764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A8451B"/>
                </a:solidFill>
                <a:latin typeface="Segoe UI"/>
              </a:rPr>
              <a:t>Excel Rate Pages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2633472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" b="0" i="0">
                <a:solidFill>
                  <a:srgbClr val="22334F"/>
                </a:solidFill>
                <a:latin typeface="Segoe UI"/>
              </a:rPr>
              <a:t>Every table, formatted and paginated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46920" y="3520440"/>
            <a:ext cx="2039112" cy="1417320"/>
          </a:xfrm>
          <a:prstGeom prst="roundRect">
            <a:avLst>
              <a:gd name="adj" fmla="val 10000"/>
            </a:avLst>
          </a:prstGeom>
          <a:solidFill>
            <a:srgbClr val="F3E2D3"/>
          </a:solidFill>
          <a:ln w="13970">
            <a:solidFill>
              <a:srgbClr val="E6C7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3685032"/>
            <a:ext cx="1764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A8451B"/>
                </a:solidFill>
                <a:latin typeface="Segoe UI"/>
              </a:rPr>
              <a:t>Regulator-Ready PDF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4233672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" b="0" i="0">
                <a:solidFill>
                  <a:srgbClr val="22334F"/>
                </a:solidFill>
                <a:latin typeface="Segoe UI"/>
              </a:rPr>
              <a:t>Compressed and ready to file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1206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120640"/>
            <a:ext cx="10652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2334F"/>
                </a:solidFill>
                <a:latin typeface="Segoe UI"/>
              </a:rPr>
              <a:t>Runs the same way, end to end, for every program, every state, and every underwriting company — no special cases.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2881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BOP  ·  Business Auto  ·  Farm Auto  —  Rate Filing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652881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A9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